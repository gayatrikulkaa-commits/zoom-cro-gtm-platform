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Zoom, not Databook. Zoom has dropped “Video” from its name and calls itself an AI-first work platform. Its March 2026 announcement framed Zoom as a system of action, with AI Companion 3.0, custom agents, and Zoom CX products. AI Companion active users more than tripled year on year in Q4 FY26 and paid AI was in each of the top ten CX deals last quarter, per Zoom. The gap is the seller: the vision only lands if sellers can take it into each account. I could not open the Forbes piece (it blocked automated access), so this slide uses Zoom’s own announcement and press coverage of the rebrand. Enterprise at about 60% of revenue is derived from Zoom’s reported FY26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wants to be known as an AI-native, holistic platform, but competitors already sell that story with the weight of an ecosystem behind it: Microsoft with Teams and Copilot, Google with Gemini inside Workspace, Cisco and RingCentral as Gartner UCaaS leaders, and Salesforce putting Agentforce inside Slack. Zoom has pointed to a total addressable market of about $125B for 2026 (Zoomtopia 2022) and up to $235B by 2028; its FY26 revenue of $4.87B is roughly 4% of the first figure, so the revenue is about 4% of that figure. That is a scale comparison, not market share, and it is illustrative: TAM definitions differ and the $235B figure comes from a third-party summary of Zoomtopia 2024, so confirm it in Zoom’s own investor slides before presenting. The point is the gap is large, it maps straight to the top line, and the way to close it is account by account, through sellers who can sell the platform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gap on the previous slide: the market is there, and the top line follows when sellers can take Zoom’s AI-first vision into each account. This is the alignment statement. As an AI deployment manager from Databook, I align to what Zoom needs: if customers need to see Zoom differently, the sellers need the right information to take that vision forward. Databook works customer-back: it builds the account context, then guides the seller. That helps three things that matter to Zoom: revenue growth, how customers perceive the products, and the win rate against named rivals. The point is to help Zoom go beyond its target, not only reach it. The competitive and market data in the prototype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system in three layers: the data layer builds the account picture from Zoom’s own systems, the intelligence layer decides what matters and what to do, and the execution layer puts guidance where sellers work and gives the CRO control and measurement. The differentiators on the bottom row are why an outcome-based model is credible: the context is verifiable, the baseline is agreed up front, and the system, not the vendor, measures the result. If no revenue shows up above target, only the platform fee is owed. The platform fee is not disclosed in Databook’s webinar. The 39% and 99% figures are Databook’s claims. Other tools tell you what happened, or find more data; Databook decides what to do on this account, and proves it. If asked about Clay, Gong or Clari, compare on trust, guidance and proof, not features, and say this is your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platform the CRO Hub is five colour-coded boxes: top line and decisions, key accounts, return on spend, product and brand, sellers and adoption. This is the loop the prototype runs, on one account, Northwind Traders. See: bookings are forecast against target, and every number says how Databook sees it, from Zoom’s own systems and from outside data. Find: the top accounts to spend time on, and Northwind opened to its five angles, each labelled verified, inferred or needs validation. Decide: the CRO approves reframing the Contact Center play, with an owner, a date and a modeled dollar impact, before any seller sees it. Guide: the play lands in Slack and Salesforce as four steps, and the coach is adapted once and handed to the seller. Prove: execution is tracked from authorized to buyer step, so adoption shows within weeks and revenue is claimed only as it lags in. Regions, statuses and the account are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one statement clear: behaviors and systems move together. Adoption of a new system is hard for sellers, because they are used to a certain selling motion. The implementation and adoption playbook is how Databook’s deployment managers, like me, work closely with the champions at Zoom: align them on the case for change, have the CRO lead by example by authorizing plays, enable sellers one to one, and align KPIs and incentives. If sellers do not change behavior and use the skills and capabilities Databook provides, there is no revenue uplift. Without Databook, the lever is hiring: roughly 10 to 20 reps and $3M to $5M to add $10M, with about six months of ramp, as Databook states; in the prototype data the hires from last fiscal year took about six months to a first win. On the platform, Uplift and adoption shows the same point: the modeled uplift is about +$4.6M at full adoption and +$2.3M at half, and a senior leader is on 35% of deals today against 68% for pilot sellers. With Databook, existing sellers are equipped and the fee is tied to revenue above target. The grey names are customer logos shown on databook.com; Zoom is not listed there, so frame Zoom as the next one, not a past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0123"/>
            <a:ext cx="10566400" cy="906760"/>
          </a:xfrm>
          <a:prstGeom prst="rect">
            <a:avLst/>
          </a:prstGeom>
          <a:noFill/>
          <a:ln/>
        </p:spPr>
        <p:txBody>
          <a:bodyPr wrap="square" lIns="0" tIns="0" rIns="0" bIns="0" rtlCol="0" anchor="t"/>
          <a:lstStyle>
            <a:lvl1pPr algn="l" indent="0" marL="0">
              <a:lnSpc>
                <a:spcPct val="115000"/>
              </a:lnSpc>
              <a:buNone/>
              <a:defRPr lang="en-US" sz="3717" dirty="0">
                <a:solidFill>
                  <a:srgbClr val="0B0B12"/>
                </a:solidFill>
                <a:latin typeface="Inter" pitchFamily="34" charset="0"/>
                <a:ea typeface="Inter" pitchFamily="34" charset="-122"/>
                <a:cs typeface="Inter" pitchFamily="34" charset="-120"/>
              </a:defRPr>
            </a:lvl1pPr>
          </a:lstStyle>
          <a:p>
            <a:pPr algn="l" indent="0" marL="0">
              <a:lnSpc>
                <a:spcPct val="115000"/>
              </a:lnSpc>
              <a:buNone/>
            </a:pPr>
            <a:endParaRPr lang="en-US" sz="3717" dirty="0"/>
          </a:p>
        </p:txBody>
      </p:sp>
      <p:sp>
        <p:nvSpPr>
          <p:cNvPr id="3" name="Text Placeholder 2"/>
          <p:cNvSpPr/>
          <p:nvPr>
            <p:ph idx="101" type="body"/>
          </p:nvPr>
        </p:nvSpPr>
        <p:spPr>
          <a:xfrm>
            <a:off x="812800" y="2351683"/>
            <a:ext cx="10566400" cy="3693517"/>
          </a:xfrm>
          <a:prstGeom prst="rect">
            <a:avLst/>
          </a:prstGeom>
          <a:noFill/>
          <a:ln/>
        </p:spPr>
        <p:txBody>
          <a:bodyPr wrap="square" lIns="0" tIns="0" rIns="0" bIns="0" rtlCol="0" anchor="t"/>
          <a:lstStyle>
            <a:lvl1pPr algn="l" indent="0" marL="0">
              <a:lnSpc>
                <a:spcPct val="140000"/>
              </a:lnSpc>
              <a:buNone/>
              <a:defRPr lang="en-US" sz="1600" dirty="0">
                <a:solidFill>
                  <a:srgbClr val="0B0B12"/>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0123"/>
            <a:ext cx="10566400" cy="906760"/>
          </a:xfrm>
          <a:prstGeom prst="rect">
            <a:avLst/>
          </a:prstGeom>
          <a:noFill/>
          <a:ln/>
        </p:spPr>
        <p:txBody>
          <a:bodyPr wrap="square" lIns="0" tIns="0" rIns="0" bIns="0" rtlCol="0" anchor="t"/>
          <a:lstStyle>
            <a:lvl1pPr algn="l" indent="0" marL="0">
              <a:lnSpc>
                <a:spcPct val="115000"/>
              </a:lnSpc>
              <a:buNone/>
              <a:defRPr lang="en-US" sz="3717" dirty="0">
                <a:solidFill>
                  <a:srgbClr val="0B0B12"/>
                </a:solidFill>
                <a:latin typeface="Inter" pitchFamily="34" charset="0"/>
                <a:ea typeface="Inter" pitchFamily="34" charset="-122"/>
                <a:cs typeface="Inter" pitchFamily="34" charset="-120"/>
              </a:defRPr>
            </a:lvl1pPr>
          </a:lstStyle>
          <a:p>
            <a:pPr algn="l" indent="0" marL="0">
              <a:lnSpc>
                <a:spcPct val="115000"/>
              </a:lnSpc>
              <a:buNone/>
            </a:pPr>
            <a:endParaRPr lang="en-US" sz="3717" dirty="0"/>
          </a:p>
        </p:txBody>
      </p:sp>
      <p:sp>
        <p:nvSpPr>
          <p:cNvPr id="3" name="Text Placeholder 2"/>
          <p:cNvSpPr/>
          <p:nvPr>
            <p:ph idx="101" type="body"/>
          </p:nvPr>
        </p:nvSpPr>
        <p:spPr>
          <a:xfrm>
            <a:off x="812800" y="2351683"/>
            <a:ext cx="10566400" cy="3693517"/>
          </a:xfrm>
          <a:prstGeom prst="rect">
            <a:avLst/>
          </a:prstGeom>
          <a:noFill/>
          <a:ln/>
        </p:spPr>
        <p:txBody>
          <a:bodyPr wrap="square" lIns="0" tIns="0" rIns="0" bIns="0" rtlCol="0" anchor="t"/>
          <a:lstStyle>
            <a:lvl1pPr algn="l" indent="0" marL="0">
              <a:lnSpc>
                <a:spcPct val="140000"/>
              </a:lnSpc>
              <a:buNone/>
              <a:defRPr lang="en-US" sz="1600" dirty="0">
                <a:solidFill>
                  <a:srgbClr val="0B0B12"/>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A392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BA3920"/>
              </a:gs>
              <a:gs pos="42000">
                <a:srgbClr val="130F14"/>
              </a:gs>
              <a:gs pos="62000">
                <a:srgbClr val="131319"/>
              </a:gs>
              <a:gs pos="100000">
                <a:srgbClr val="4558D2"/>
              </a:gs>
            </a:gsLst>
            <a:lin ang="2100000" scaled="0"/>
          </a:gradFill>
          <a:ln/>
        </p:spPr>
      </p:sp>
      <p:sp>
        <p:nvSpPr>
          <p:cNvPr id="3" name="Text 1"/>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79BF4"/>
                </a:solidFill>
                <a:latin typeface="Inter" pitchFamily="34" charset="0"/>
                <a:ea typeface="Inter" pitchFamily="34" charset="-122"/>
                <a:cs typeface="Inter" pitchFamily="34" charset="-120"/>
              </a:rPr>
              <a:t>ZOOM’S NEED, RIGHT NOW</a:t>
            </a:r>
            <a:endParaRPr lang="en-US" sz="1300" dirty="0"/>
          </a:p>
        </p:txBody>
      </p:sp>
      <p:sp>
        <p:nvSpPr>
          <p:cNvPr id="4" name="Text 2"/>
          <p:cNvSpPr/>
          <p:nvPr>
            <p:ph type="title"/>
          </p:nvPr>
        </p:nvSpPr>
        <p:spPr>
          <a:xfrm>
            <a:off x="812800" y="1145530"/>
            <a:ext cx="10883392" cy="1038820"/>
          </a:xfrm>
          <a:prstGeom prst="rect">
            <a:avLst/>
          </a:prstGeom>
          <a:noFill/>
          <a:ln/>
        </p:spPr>
        <p:txBody>
          <a:bodyPr wrap="square" lIns="0" tIns="0" rIns="0" bIns="0" rtlCol="0" anchor="t">
            <a:normAutofit/>
          </a:bodyPr>
          <a:lstStyle/>
          <a:p>
            <a:pPr algn="l" indent="0" marL="0">
              <a:lnSpc>
                <a:spcPts val="3990"/>
              </a:lnSpc>
              <a:buNone/>
            </a:pPr>
            <a:r>
              <a:rPr lang="en-US" sz="3800" b="1" i="0" spc="-100" kern="0" dirty="0">
                <a:solidFill>
                  <a:srgbClr val="FAFAF8"/>
                </a:solidFill>
                <a:latin typeface="Inter" pitchFamily="34" charset="0"/>
                <a:ea typeface="Inter" pitchFamily="34" charset="-122"/>
                <a:cs typeface="Inter" pitchFamily="34" charset="-120"/>
              </a:rPr>
              <a:t>Zoom is repositioning from video meetings to an AI-first work platform</a:t>
            </a:r>
            <a:endParaRPr lang="en-US" sz="3800" dirty="0"/>
          </a:p>
        </p:txBody>
      </p:sp>
      <p:sp>
        <p:nvSpPr>
          <p:cNvPr id="5" name="Shape 3"/>
          <p:cNvSpPr/>
          <p:nvPr/>
        </p:nvSpPr>
        <p:spPr>
          <a:xfrm>
            <a:off x="815975" y="2365325"/>
            <a:ext cx="3397250" cy="2179042"/>
          </a:xfrm>
          <a:prstGeom prst="roundRect">
            <a:avLst>
              <a:gd name="adj" fmla="val 6848"/>
            </a:avLst>
          </a:prstGeom>
          <a:solidFill>
            <a:srgbClr val="0B0B12">
              <a:alpha val="72000"/>
            </a:srgbClr>
          </a:solidFill>
          <a:ln w="6350">
            <a:solidFill>
              <a:srgbClr val="3A3D5C"/>
            </a:solidFill>
            <a:prstDash val="solid"/>
          </a:ln>
        </p:spPr>
      </p:sp>
      <p:sp>
        <p:nvSpPr>
          <p:cNvPr id="6" name="Text 4"/>
          <p:cNvSpPr/>
          <p:nvPr/>
        </p:nvSpPr>
        <p:spPr>
          <a:xfrm>
            <a:off x="1047750" y="2546300"/>
            <a:ext cx="302171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E605E"/>
                </a:solidFill>
                <a:latin typeface="Inter" pitchFamily="34" charset="0"/>
                <a:ea typeface="Inter" pitchFamily="34" charset="-122"/>
                <a:cs typeface="Inter" pitchFamily="34" charset="-120"/>
              </a:rPr>
              <a:t>THE SHIFT</a:t>
            </a:r>
            <a:endParaRPr lang="en-US" sz="1200" dirty="0"/>
          </a:p>
        </p:txBody>
      </p:sp>
      <p:sp>
        <p:nvSpPr>
          <p:cNvPr id="7" name="Text 5"/>
          <p:cNvSpPr/>
          <p:nvPr/>
        </p:nvSpPr>
        <p:spPr>
          <a:xfrm>
            <a:off x="1047750" y="2848521"/>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AFAF8"/>
                </a:solidFill>
                <a:latin typeface="Inter" pitchFamily="34" charset="0"/>
                <a:ea typeface="Inter" pitchFamily="34" charset="-122"/>
                <a:cs typeface="Inter" pitchFamily="34" charset="-120"/>
              </a:rPr>
              <a:t>“Video” dropped from the company name in 2024</a:t>
            </a:r>
            <a:endParaRPr lang="en-US" sz="1300" dirty="0"/>
          </a:p>
        </p:txBody>
      </p:sp>
      <p:sp>
        <p:nvSpPr>
          <p:cNvPr id="8" name="Text 6"/>
          <p:cNvSpPr/>
          <p:nvPr/>
        </p:nvSpPr>
        <p:spPr>
          <a:xfrm>
            <a:off x="1047750" y="3383111"/>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AFAF8"/>
                </a:solidFill>
                <a:latin typeface="Inter" pitchFamily="34" charset="0"/>
                <a:ea typeface="Inter" pitchFamily="34" charset="-122"/>
                <a:cs typeface="Inter" pitchFamily="34" charset="-120"/>
              </a:rPr>
              <a:t>Positioned as an AI-first work platform</a:t>
            </a:r>
            <a:endParaRPr lang="en-US" sz="1300" dirty="0"/>
          </a:p>
        </p:txBody>
      </p:sp>
      <p:sp>
        <p:nvSpPr>
          <p:cNvPr id="9" name="Text 7"/>
          <p:cNvSpPr/>
          <p:nvPr/>
        </p:nvSpPr>
        <p:spPr>
          <a:xfrm>
            <a:off x="1047750" y="3917702"/>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AFAF8"/>
                </a:solidFill>
                <a:latin typeface="Inter" pitchFamily="34" charset="0"/>
                <a:ea typeface="Inter" pitchFamily="34" charset="-122"/>
                <a:cs typeface="Inter" pitchFamily="34" charset="-120"/>
              </a:rPr>
              <a:t>A “system of action”: meetings and calls become finished work</a:t>
            </a:r>
            <a:endParaRPr lang="en-US" sz="1300" dirty="0"/>
          </a:p>
        </p:txBody>
      </p:sp>
      <p:sp>
        <p:nvSpPr>
          <p:cNvPr id="10" name="Shape 8"/>
          <p:cNvSpPr/>
          <p:nvPr/>
        </p:nvSpPr>
        <p:spPr>
          <a:xfrm>
            <a:off x="4397375" y="2365325"/>
            <a:ext cx="3397250" cy="2179042"/>
          </a:xfrm>
          <a:prstGeom prst="roundRect">
            <a:avLst>
              <a:gd name="adj" fmla="val 6848"/>
            </a:avLst>
          </a:prstGeom>
          <a:solidFill>
            <a:srgbClr val="0B0B12">
              <a:alpha val="72000"/>
            </a:srgbClr>
          </a:solidFill>
          <a:ln w="6350">
            <a:solidFill>
              <a:srgbClr val="3A3D5C"/>
            </a:solidFill>
            <a:prstDash val="solid"/>
          </a:ln>
        </p:spPr>
      </p:sp>
      <p:sp>
        <p:nvSpPr>
          <p:cNvPr id="11" name="Text 9"/>
          <p:cNvSpPr/>
          <p:nvPr/>
        </p:nvSpPr>
        <p:spPr>
          <a:xfrm>
            <a:off x="4629150" y="2546300"/>
            <a:ext cx="302171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E605E"/>
                </a:solidFill>
                <a:latin typeface="Inter" pitchFamily="34" charset="0"/>
                <a:ea typeface="Inter" pitchFamily="34" charset="-122"/>
                <a:cs typeface="Inter" pitchFamily="34" charset="-120"/>
              </a:rPr>
              <a:t>THE PRODUCTS</a:t>
            </a:r>
            <a:endParaRPr lang="en-US" sz="1200" dirty="0"/>
          </a:p>
        </p:txBody>
      </p:sp>
      <p:sp>
        <p:nvSpPr>
          <p:cNvPr id="12" name="Text 10"/>
          <p:cNvSpPr/>
          <p:nvPr/>
        </p:nvSpPr>
        <p:spPr>
          <a:xfrm>
            <a:off x="4629150" y="2848521"/>
            <a:ext cx="31623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AFAF8"/>
                </a:solidFill>
                <a:latin typeface="Inter" pitchFamily="34" charset="0"/>
                <a:ea typeface="Inter" pitchFamily="34" charset="-122"/>
                <a:cs typeface="Inter" pitchFamily="34" charset="-120"/>
              </a:rPr>
              <a:t>AI Companion 3.0 and custom agents</a:t>
            </a:r>
            <a:endParaRPr lang="en-US" sz="1300" dirty="0"/>
          </a:p>
        </p:txBody>
      </p:sp>
      <p:sp>
        <p:nvSpPr>
          <p:cNvPr id="13" name="Text 11"/>
          <p:cNvSpPr/>
          <p:nvPr/>
        </p:nvSpPr>
        <p:spPr>
          <a:xfrm>
            <a:off x="4629150" y="3160266"/>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AFAF8"/>
                </a:solidFill>
                <a:latin typeface="Inter" pitchFamily="34" charset="0"/>
                <a:ea typeface="Inter" pitchFamily="34" charset="-122"/>
                <a:cs typeface="Inter" pitchFamily="34" charset="-120"/>
              </a:rPr>
              <a:t>Zoom CX: Virtual Agent, AI Expert Assist</a:t>
            </a:r>
            <a:endParaRPr lang="en-US" sz="1300" dirty="0"/>
          </a:p>
        </p:txBody>
      </p:sp>
      <p:sp>
        <p:nvSpPr>
          <p:cNvPr id="14" name="Text 12"/>
          <p:cNvSpPr/>
          <p:nvPr/>
        </p:nvSpPr>
        <p:spPr>
          <a:xfrm>
            <a:off x="4629150" y="3694857"/>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AFAF8"/>
                </a:solidFill>
                <a:latin typeface="Inter" pitchFamily="34" charset="0"/>
                <a:ea typeface="Inter" pitchFamily="34" charset="-122"/>
                <a:cs typeface="Inter" pitchFamily="34" charset="-120"/>
              </a:rPr>
              <a:t>AI Sales Assist and Ask ZRA for revenue leaders</a:t>
            </a:r>
            <a:endParaRPr lang="en-US" sz="1300" dirty="0"/>
          </a:p>
        </p:txBody>
      </p:sp>
      <p:sp>
        <p:nvSpPr>
          <p:cNvPr id="15" name="Shape 13"/>
          <p:cNvSpPr/>
          <p:nvPr/>
        </p:nvSpPr>
        <p:spPr>
          <a:xfrm>
            <a:off x="7978775" y="2365325"/>
            <a:ext cx="3397250" cy="2179042"/>
          </a:xfrm>
          <a:prstGeom prst="roundRect">
            <a:avLst>
              <a:gd name="adj" fmla="val 6848"/>
            </a:avLst>
          </a:prstGeom>
          <a:solidFill>
            <a:srgbClr val="0B0B12">
              <a:alpha val="72000"/>
            </a:srgbClr>
          </a:solidFill>
          <a:ln w="6350">
            <a:solidFill>
              <a:srgbClr val="3A3D5C"/>
            </a:solidFill>
            <a:prstDash val="solid"/>
          </a:ln>
        </p:spPr>
      </p:sp>
      <p:sp>
        <p:nvSpPr>
          <p:cNvPr id="16" name="Text 14"/>
          <p:cNvSpPr/>
          <p:nvPr/>
        </p:nvSpPr>
        <p:spPr>
          <a:xfrm>
            <a:off x="8210550" y="2546300"/>
            <a:ext cx="302171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E605E"/>
                </a:solidFill>
                <a:latin typeface="Inter" pitchFamily="34" charset="0"/>
                <a:ea typeface="Inter" pitchFamily="34" charset="-122"/>
                <a:cs typeface="Inter" pitchFamily="34" charset="-120"/>
              </a:rPr>
              <a:t>THE TRACTION</a:t>
            </a:r>
            <a:endParaRPr lang="en-US" sz="1200" dirty="0"/>
          </a:p>
        </p:txBody>
      </p:sp>
      <p:sp>
        <p:nvSpPr>
          <p:cNvPr id="17" name="Text 15"/>
          <p:cNvSpPr/>
          <p:nvPr/>
        </p:nvSpPr>
        <p:spPr>
          <a:xfrm>
            <a:off x="8210550" y="2848521"/>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AFAF8"/>
                </a:solidFill>
                <a:latin typeface="Inter" pitchFamily="34" charset="0"/>
                <a:ea typeface="Inter" pitchFamily="34" charset="-122"/>
                <a:cs typeface="Inter" pitchFamily="34" charset="-120"/>
              </a:rPr>
              <a:t>AI Companion active users up more than 3x in Q4 FY26</a:t>
            </a:r>
            <a:endParaRPr lang="en-US" sz="1300" dirty="0"/>
          </a:p>
        </p:txBody>
      </p:sp>
      <p:sp>
        <p:nvSpPr>
          <p:cNvPr id="18" name="Text 16"/>
          <p:cNvSpPr/>
          <p:nvPr/>
        </p:nvSpPr>
        <p:spPr>
          <a:xfrm>
            <a:off x="8210550" y="3383111"/>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AFAF8"/>
                </a:solidFill>
                <a:latin typeface="Inter" pitchFamily="34" charset="0"/>
                <a:ea typeface="Inter" pitchFamily="34" charset="-122"/>
                <a:cs typeface="Inter" pitchFamily="34" charset="-120"/>
              </a:rPr>
              <a:t>Paid AI in each of the top ten CX deals last quarter</a:t>
            </a:r>
            <a:endParaRPr lang="en-US" sz="1300" dirty="0"/>
          </a:p>
        </p:txBody>
      </p:sp>
      <p:sp>
        <p:nvSpPr>
          <p:cNvPr id="19" name="Text 17"/>
          <p:cNvSpPr/>
          <p:nvPr/>
        </p:nvSpPr>
        <p:spPr>
          <a:xfrm>
            <a:off x="8210550" y="3917702"/>
            <a:ext cx="302171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AFAF8"/>
                </a:solidFill>
                <a:latin typeface="Inter" pitchFamily="34" charset="0"/>
                <a:ea typeface="Inter" pitchFamily="34" charset="-122"/>
                <a:cs typeface="Inter" pitchFamily="34" charset="-120"/>
              </a:rPr>
              <a:t>Enterprise is about 60% of FY26 revenue</a:t>
            </a:r>
            <a:endParaRPr lang="en-US" sz="1300" dirty="0"/>
          </a:p>
        </p:txBody>
      </p:sp>
      <p:sp>
        <p:nvSpPr>
          <p:cNvPr id="20" name="Text 18"/>
          <p:cNvSpPr/>
          <p:nvPr/>
        </p:nvSpPr>
        <p:spPr>
          <a:xfrm>
            <a:off x="812800" y="4750743"/>
            <a:ext cx="10566400" cy="904180"/>
          </a:xfrm>
          <a:prstGeom prst="roundRect">
            <a:avLst>
              <a:gd name="adj" fmla="val 11237"/>
            </a:avLst>
          </a:prstGeom>
          <a:solidFill>
            <a:srgbClr val="FAFAF8"/>
          </a:solidFill>
          <a:ln/>
        </p:spPr>
        <p:txBody>
          <a:bodyPr wrap="square" lIns="287742" tIns="148042" rIns="0" bIns="122642" rtlCol="0" anchor="t">
            <a:normAutofit/>
          </a:bodyPr>
          <a:lstStyle/>
          <a:p>
            <a:pPr algn="l" indent="0" marL="0">
              <a:lnSpc>
                <a:spcPts val="2160"/>
              </a:lnSpc>
              <a:buNone/>
            </a:pPr>
            <a:r>
              <a:rPr lang="en-US" sz="1600" b="1" dirty="0">
                <a:solidFill>
                  <a:srgbClr val="0B0B12"/>
                </a:solidFill>
                <a:latin typeface="Inter" pitchFamily="34" charset="0"/>
                <a:ea typeface="Inter" pitchFamily="34" charset="-122"/>
                <a:cs typeface="Inter" pitchFamily="34" charset="-120"/>
              </a:rPr>
              <a:t>The need: every Zoom seller must carry this vision into each account. If customers still see Zoom as a meeting tool, the AI products do not get bought.</a:t>
            </a:r>
            <a:endParaRPr lang="en-US" sz="1600" dirty="0"/>
          </a:p>
        </p:txBody>
      </p:sp>
      <p:sp>
        <p:nvSpPr>
          <p:cNvPr id="21" name="Shape 19"/>
          <p:cNvSpPr/>
          <p:nvPr/>
        </p:nvSpPr>
        <p:spPr>
          <a:xfrm>
            <a:off x="812800" y="4750743"/>
            <a:ext cx="10566400" cy="904180"/>
          </a:xfrm>
          <a:custGeom>
            <a:avLst/>
            <a:gdLst/>
            <a:ahLst/>
            <a:cxnLst/>
            <a:rect l="l" t="t" r="r" b="b"/>
            <a:pathLst>
              <a:path w="10566400" h="904180">
                <a:moveTo>
                  <a:pt x="101600" y="904180"/>
                </a:moveTo>
                <a:lnTo>
                  <a:pt x="101600" y="904180"/>
                </a:lnTo>
                <a:arcTo hR="101600" wR="101600" stAng="5400000" swAng="5400000"/>
                <a:lnTo>
                  <a:pt x="0" y="101600"/>
                </a:lnTo>
                <a:arcTo hR="101600" wR="101600" stAng="10800000" swAng="5400000"/>
                <a:lnTo>
                  <a:pt x="101600" y="0"/>
                </a:lnTo>
                <a:arcTo hR="101600" wR="38100" stAng="16200000" swAng="-5400000"/>
                <a:lnTo>
                  <a:pt x="63500" y="802580"/>
                </a:lnTo>
                <a:arcTo hR="101600" wR="38100" stAng="10800000" swAng="-5400000"/>
                <a:close/>
              </a:path>
            </a:pathLst>
          </a:custGeom>
          <a:solidFill>
            <a:srgbClr val="BC3A21"/>
          </a:solidFill>
          <a:ln/>
        </p:spPr>
      </p:sp>
      <p:sp>
        <p:nvSpPr>
          <p:cNvPr id="22" name="Text 2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3DE"/>
                </a:solidFill>
                <a:latin typeface="Inter" pitchFamily="34" charset="0"/>
                <a:ea typeface="Inter" pitchFamily="34" charset="-122"/>
                <a:cs typeface="Inter" pitchFamily="34" charset="-120"/>
              </a:rPr>
              <a:t>Sources: Zoom announcement (March 10, 2026), Zoom FY26 results, coverage of Zoom’s 2024 rebrand</a:t>
            </a:r>
            <a:endParaRPr lang="en-US" sz="12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5D3DE"/>
                </a:solidFill>
                <a:latin typeface="Inter" pitchFamily="34" charset="0"/>
                <a:ea typeface="Inter" pitchFamily="34" charset="-122"/>
                <a:cs typeface="Inter"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C3A21"/>
                </a:solidFill>
                <a:latin typeface="Inter" pitchFamily="34" charset="0"/>
                <a:ea typeface="Inter" pitchFamily="34" charset="-122"/>
                <a:cs typeface="Inter" pitchFamily="34" charset="-120"/>
              </a:rPr>
              <a:t>THE MARKET GAP</a:t>
            </a:r>
            <a:endParaRPr lang="en-US" sz="1300" dirty="0"/>
          </a:p>
        </p:txBody>
      </p:sp>
      <p:sp>
        <p:nvSpPr>
          <p:cNvPr id="3" name="Text 1"/>
          <p:cNvSpPr/>
          <p:nvPr>
            <p:ph type="title"/>
          </p:nvPr>
        </p:nvSpPr>
        <p:spPr>
          <a:xfrm>
            <a:off x="812800" y="1132830"/>
            <a:ext cx="10883392" cy="932160"/>
          </a:xfrm>
          <a:prstGeom prst="rect">
            <a:avLst/>
          </a:prstGeom>
          <a:noFill/>
          <a:ln/>
        </p:spPr>
        <p:txBody>
          <a:bodyPr wrap="square" lIns="0" tIns="0" rIns="0" bIns="0" rtlCol="0" anchor="t">
            <a:normAutofit/>
          </a:bodyPr>
          <a:lstStyle/>
          <a:p>
            <a:pPr algn="l" indent="0" marL="0">
              <a:lnSpc>
                <a:spcPts val="3570"/>
              </a:lnSpc>
              <a:buNone/>
            </a:pPr>
            <a:r>
              <a:rPr lang="en-US" sz="3400" b="1" i="0" spc="-100" kern="0" dirty="0">
                <a:solidFill>
                  <a:srgbClr val="0B0B12"/>
                </a:solidFill>
                <a:latin typeface="Inter" pitchFamily="34" charset="0"/>
                <a:ea typeface="Inter" pitchFamily="34" charset="-122"/>
                <a:cs typeface="Inter" pitchFamily="34" charset="-120"/>
              </a:rPr>
              <a:t>Rivals already hold the AI-native platform position, and Zoom has room to grow</a:t>
            </a:r>
            <a:endParaRPr lang="en-US" sz="3400" dirty="0"/>
          </a:p>
        </p:txBody>
      </p:sp>
      <p:sp>
        <p:nvSpPr>
          <p:cNvPr id="4" name="Shape 2"/>
          <p:cNvSpPr/>
          <p:nvPr/>
        </p:nvSpPr>
        <p:spPr>
          <a:xfrm>
            <a:off x="815975" y="2245965"/>
            <a:ext cx="5705822" cy="3482181"/>
          </a:xfrm>
          <a:prstGeom prst="roundRect">
            <a:avLst>
              <a:gd name="adj" fmla="val 4285"/>
            </a:avLst>
          </a:prstGeom>
          <a:solidFill>
            <a:srgbClr val="FFFFFF"/>
          </a:solidFill>
          <a:ln w="6350">
            <a:solidFill>
              <a:srgbClr val="E3E0DE"/>
            </a:solidFill>
            <a:prstDash val="solid"/>
          </a:ln>
        </p:spPr>
      </p:sp>
      <p:sp>
        <p:nvSpPr>
          <p:cNvPr id="5" name="Text 3"/>
          <p:cNvSpPr/>
          <p:nvPr/>
        </p:nvSpPr>
        <p:spPr>
          <a:xfrm>
            <a:off x="1047750" y="2452340"/>
            <a:ext cx="539954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0B12"/>
                </a:solidFill>
                <a:latin typeface="Inter" pitchFamily="34" charset="0"/>
                <a:ea typeface="Inter" pitchFamily="34" charset="-122"/>
                <a:cs typeface="Inter" pitchFamily="34" charset="-120"/>
              </a:rPr>
              <a:t>Who already sells the platform story</a:t>
            </a:r>
            <a:endParaRPr lang="en-US" sz="1800" dirty="0"/>
          </a:p>
        </p:txBody>
      </p:sp>
      <p:sp>
        <p:nvSpPr>
          <p:cNvPr id="6" name="Text 4"/>
          <p:cNvSpPr/>
          <p:nvPr/>
        </p:nvSpPr>
        <p:spPr>
          <a:xfrm>
            <a:off x="1047750" y="2840930"/>
            <a:ext cx="53995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558D2"/>
                </a:solidFill>
                <a:latin typeface="Inter" pitchFamily="34" charset="0"/>
                <a:ea typeface="Inter" pitchFamily="34" charset="-122"/>
                <a:cs typeface="Inter" pitchFamily="34" charset="-120"/>
              </a:rPr>
              <a:t>Microsoft</a:t>
            </a:r>
            <a:endParaRPr lang="en-US" sz="1500" dirty="0"/>
          </a:p>
        </p:txBody>
      </p:sp>
      <p:sp>
        <p:nvSpPr>
          <p:cNvPr id="7" name="Text 5"/>
          <p:cNvSpPr/>
          <p:nvPr/>
        </p:nvSpPr>
        <p:spPr>
          <a:xfrm>
            <a:off x="1047750" y="3120330"/>
            <a:ext cx="539954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4852"/>
                </a:solidFill>
                <a:latin typeface="Inter" pitchFamily="34" charset="0"/>
                <a:ea typeface="Inter" pitchFamily="34" charset="-122"/>
                <a:cs typeface="Inter" pitchFamily="34" charset="-120"/>
              </a:rPr>
              <a:t>Teams plus 365 Copilot: 30M paid Copilot seats at FY26 Q4</a:t>
            </a:r>
            <a:endParaRPr lang="en-US" sz="1300" dirty="0"/>
          </a:p>
        </p:txBody>
      </p:sp>
      <p:sp>
        <p:nvSpPr>
          <p:cNvPr id="8" name="Text 6"/>
          <p:cNvSpPr/>
          <p:nvPr/>
        </p:nvSpPr>
        <p:spPr>
          <a:xfrm>
            <a:off x="1047750" y="3449241"/>
            <a:ext cx="53995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558D2"/>
                </a:solidFill>
                <a:latin typeface="Inter" pitchFamily="34" charset="0"/>
                <a:ea typeface="Inter" pitchFamily="34" charset="-122"/>
                <a:cs typeface="Inter" pitchFamily="34" charset="-120"/>
              </a:rPr>
              <a:t>Google</a:t>
            </a:r>
            <a:endParaRPr lang="en-US" sz="1500" dirty="0"/>
          </a:p>
        </p:txBody>
      </p:sp>
      <p:sp>
        <p:nvSpPr>
          <p:cNvPr id="9" name="Text 7"/>
          <p:cNvSpPr/>
          <p:nvPr/>
        </p:nvSpPr>
        <p:spPr>
          <a:xfrm>
            <a:off x="1047750" y="3728641"/>
            <a:ext cx="539954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4852"/>
                </a:solidFill>
                <a:latin typeface="Inter" pitchFamily="34" charset="0"/>
                <a:ea typeface="Inter" pitchFamily="34" charset="-122"/>
                <a:cs typeface="Inter" pitchFamily="34" charset="-120"/>
              </a:rPr>
              <a:t>Workspace with Gemini bundled into plans since early 2025</a:t>
            </a:r>
            <a:endParaRPr lang="en-US" sz="1300" dirty="0"/>
          </a:p>
        </p:txBody>
      </p:sp>
      <p:sp>
        <p:nvSpPr>
          <p:cNvPr id="10" name="Text 8"/>
          <p:cNvSpPr/>
          <p:nvPr/>
        </p:nvSpPr>
        <p:spPr>
          <a:xfrm>
            <a:off x="1047750" y="4057551"/>
            <a:ext cx="53995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558D2"/>
                </a:solidFill>
                <a:latin typeface="Inter" pitchFamily="34" charset="0"/>
                <a:ea typeface="Inter" pitchFamily="34" charset="-122"/>
                <a:cs typeface="Inter" pitchFamily="34" charset="-120"/>
              </a:rPr>
              <a:t>Cisco and RingCentral</a:t>
            </a:r>
            <a:endParaRPr lang="en-US" sz="1500" dirty="0"/>
          </a:p>
        </p:txBody>
      </p:sp>
      <p:sp>
        <p:nvSpPr>
          <p:cNvPr id="11" name="Text 9"/>
          <p:cNvSpPr/>
          <p:nvPr/>
        </p:nvSpPr>
        <p:spPr>
          <a:xfrm>
            <a:off x="1047750" y="4336951"/>
            <a:ext cx="539954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4852"/>
                </a:solidFill>
                <a:latin typeface="Inter" pitchFamily="34" charset="0"/>
                <a:ea typeface="Inter" pitchFamily="34" charset="-122"/>
                <a:cs typeface="Inter" pitchFamily="34" charset="-120"/>
              </a:rPr>
              <a:t>Gartner 2026 UCaaS leaders, alongside Microsoft and Zoom</a:t>
            </a:r>
            <a:endParaRPr lang="en-US" sz="1300" dirty="0"/>
          </a:p>
        </p:txBody>
      </p:sp>
      <p:sp>
        <p:nvSpPr>
          <p:cNvPr id="12" name="Text 10"/>
          <p:cNvSpPr/>
          <p:nvPr/>
        </p:nvSpPr>
        <p:spPr>
          <a:xfrm>
            <a:off x="1047750" y="4665861"/>
            <a:ext cx="53995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558D2"/>
                </a:solidFill>
                <a:latin typeface="Inter" pitchFamily="34" charset="0"/>
                <a:ea typeface="Inter" pitchFamily="34" charset="-122"/>
                <a:cs typeface="Inter" pitchFamily="34" charset="-120"/>
              </a:rPr>
              <a:t>Salesforce</a:t>
            </a:r>
            <a:endParaRPr lang="en-US" sz="1500" dirty="0"/>
          </a:p>
        </p:txBody>
      </p:sp>
      <p:sp>
        <p:nvSpPr>
          <p:cNvPr id="13" name="Text 11"/>
          <p:cNvSpPr/>
          <p:nvPr/>
        </p:nvSpPr>
        <p:spPr>
          <a:xfrm>
            <a:off x="1047750" y="4945261"/>
            <a:ext cx="539954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4852"/>
                </a:solidFill>
                <a:latin typeface="Inter" pitchFamily="34" charset="0"/>
                <a:ea typeface="Inter" pitchFamily="34" charset="-122"/>
                <a:cs typeface="Inter" pitchFamily="34" charset="-120"/>
              </a:rPr>
              <a:t>Agentforce agents inside Slack, next to the CRM</a:t>
            </a:r>
            <a:endParaRPr lang="en-US" sz="1300" dirty="0"/>
          </a:p>
        </p:txBody>
      </p:sp>
      <p:sp>
        <p:nvSpPr>
          <p:cNvPr id="14" name="Shape 12"/>
          <p:cNvSpPr/>
          <p:nvPr/>
        </p:nvSpPr>
        <p:spPr>
          <a:xfrm>
            <a:off x="6728172" y="2242790"/>
            <a:ext cx="4651028" cy="3488531"/>
          </a:xfrm>
          <a:prstGeom prst="roundRect">
            <a:avLst>
              <a:gd name="adj" fmla="val 4369"/>
            </a:avLst>
          </a:prstGeom>
          <a:solidFill>
            <a:srgbClr val="0B0B12"/>
          </a:solidFill>
          <a:ln/>
        </p:spPr>
      </p:sp>
      <p:sp>
        <p:nvSpPr>
          <p:cNvPr id="15" name="Text 13"/>
          <p:cNvSpPr/>
          <p:nvPr/>
        </p:nvSpPr>
        <p:spPr>
          <a:xfrm>
            <a:off x="6956772" y="2445990"/>
            <a:ext cx="431964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79BF4"/>
                </a:solidFill>
                <a:latin typeface="Inter" pitchFamily="34" charset="0"/>
                <a:ea typeface="Inter" pitchFamily="34" charset="-122"/>
                <a:cs typeface="Inter" pitchFamily="34" charset="-120"/>
              </a:rPr>
              <a:t>THE SIZE OF THE PRIZE, ILLUSTRATIVE</a:t>
            </a:r>
            <a:endParaRPr lang="en-US" sz="1200" dirty="0"/>
          </a:p>
        </p:txBody>
      </p:sp>
      <p:sp>
        <p:nvSpPr>
          <p:cNvPr id="16" name="Text 14"/>
          <p:cNvSpPr/>
          <p:nvPr/>
        </p:nvSpPr>
        <p:spPr>
          <a:xfrm>
            <a:off x="6956772" y="2748211"/>
            <a:ext cx="4319643" cy="685800"/>
          </a:xfrm>
          <a:prstGeom prst="rect">
            <a:avLst/>
          </a:prstGeom>
          <a:noFill/>
          <a:ln/>
        </p:spPr>
        <p:txBody>
          <a:bodyPr wrap="square" lIns="0" tIns="0" rIns="0" bIns="0" rtlCol="0" anchor="t">
            <a:normAutofit/>
          </a:bodyPr>
          <a:lstStyle/>
          <a:p>
            <a:pPr algn="l" indent="0" marL="0">
              <a:lnSpc>
                <a:spcPts val="5200"/>
              </a:lnSpc>
              <a:buNone/>
            </a:pPr>
            <a:r>
              <a:rPr lang="en-US" sz="5200" b="1" spc="-150" kern="0" dirty="0">
                <a:solidFill>
                  <a:srgbClr val="DE605E"/>
                </a:solidFill>
                <a:latin typeface="Inter" pitchFamily="34" charset="0"/>
                <a:ea typeface="Inter" pitchFamily="34" charset="-122"/>
                <a:cs typeface="Inter" pitchFamily="34" charset="-120"/>
              </a:rPr>
              <a:t>~4%</a:t>
            </a:r>
            <a:endParaRPr lang="en-US" sz="5200" dirty="0"/>
          </a:p>
        </p:txBody>
      </p:sp>
      <p:sp>
        <p:nvSpPr>
          <p:cNvPr id="17" name="Text 15"/>
          <p:cNvSpPr/>
          <p:nvPr/>
        </p:nvSpPr>
        <p:spPr>
          <a:xfrm>
            <a:off x="6956772" y="3497511"/>
            <a:ext cx="431964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3E0E8"/>
                </a:solidFill>
                <a:latin typeface="Inter" pitchFamily="34" charset="0"/>
                <a:ea typeface="Inter" pitchFamily="34" charset="-122"/>
                <a:cs typeface="Inter" pitchFamily="34" charset="-120"/>
              </a:rPr>
              <a:t>FY26 revenue as a share of the $125B market Zoom cited for 2026</a:t>
            </a:r>
            <a:endParaRPr lang="en-US" sz="1400" dirty="0"/>
          </a:p>
        </p:txBody>
      </p:sp>
      <p:sp>
        <p:nvSpPr>
          <p:cNvPr id="18" name="Shape 16"/>
          <p:cNvSpPr/>
          <p:nvPr/>
        </p:nvSpPr>
        <p:spPr>
          <a:xfrm>
            <a:off x="6956772" y="4066431"/>
            <a:ext cx="4193828" cy="228600"/>
          </a:xfrm>
          <a:prstGeom prst="roundRect">
            <a:avLst>
              <a:gd name="adj" fmla="val 27778"/>
            </a:avLst>
          </a:prstGeom>
          <a:solidFill>
            <a:srgbClr val="6B2A22"/>
          </a:solidFill>
          <a:ln/>
        </p:spPr>
      </p:sp>
      <p:sp>
        <p:nvSpPr>
          <p:cNvPr id="19" name="Shape 17"/>
          <p:cNvSpPr/>
          <p:nvPr/>
        </p:nvSpPr>
        <p:spPr>
          <a:xfrm>
            <a:off x="6956772" y="4066431"/>
            <a:ext cx="4193828" cy="228600"/>
          </a:xfrm>
          <a:prstGeom prst="roundRect">
            <a:avLst>
              <a:gd name="adj" fmla="val 27778"/>
            </a:avLst>
          </a:prstGeom>
          <a:solidFill>
            <a:srgbClr val="879BF4"/>
          </a:solidFill>
          <a:ln/>
        </p:spPr>
      </p:sp>
      <p:sp>
        <p:nvSpPr>
          <p:cNvPr id="20" name="Text 18"/>
          <p:cNvSpPr/>
          <p:nvPr/>
        </p:nvSpPr>
        <p:spPr>
          <a:xfrm>
            <a:off x="6956772" y="4383931"/>
            <a:ext cx="4319643"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C9C7D2"/>
                </a:solidFill>
                <a:latin typeface="Inter" pitchFamily="34" charset="0"/>
                <a:ea typeface="Inter" pitchFamily="34" charset="-122"/>
                <a:cs typeface="Inter" pitchFamily="34" charset="-120"/>
              </a:rPr>
              <a:t>FY26 revenue: $4.87B</a:t>
            </a:r>
            <a:r>
              <a:rPr lang="en-US" sz="1300" dirty="0">
                <a:solidFill>
                  <a:srgbClr val="C9C7D2"/>
                </a:solidFill>
                <a:latin typeface="Inter" pitchFamily="34" charset="0"/>
                <a:ea typeface="Inter" pitchFamily="34" charset="-122"/>
                <a:cs typeface="Inter" pitchFamily="34" charset="-120"/>
              </a:rPr>
              <a:t>. Scale comparison, not market share. Later figure: up to $235B by 2028.</a:t>
            </a:r>
            <a:endParaRPr lang="en-US" sz="1300" dirty="0"/>
          </a:p>
        </p:txBody>
      </p:sp>
      <p:sp>
        <p:nvSpPr>
          <p:cNvPr id="21" name="Shape 19"/>
          <p:cNvSpPr/>
          <p:nvPr/>
        </p:nvSpPr>
        <p:spPr>
          <a:xfrm>
            <a:off x="6956772" y="4924871"/>
            <a:ext cx="4193828" cy="0"/>
          </a:xfrm>
          <a:prstGeom prst="line">
            <a:avLst/>
          </a:prstGeom>
          <a:noFill/>
          <a:ln w="12700">
            <a:solidFill>
              <a:srgbClr val="2C2E45"/>
            </a:solidFill>
            <a:prstDash val="solid"/>
          </a:ln>
        </p:spPr>
      </p:sp>
      <p:sp>
        <p:nvSpPr>
          <p:cNvPr id="22" name="Text 20"/>
          <p:cNvSpPr/>
          <p:nvPr/>
        </p:nvSpPr>
        <p:spPr>
          <a:xfrm>
            <a:off x="6956772" y="5032821"/>
            <a:ext cx="4319643"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AFAF8"/>
                </a:solidFill>
                <a:latin typeface="Inter" pitchFamily="34" charset="0"/>
                <a:ea typeface="Inter" pitchFamily="34" charset="-122"/>
                <a:cs typeface="Inter" pitchFamily="34" charset="-120"/>
              </a:rPr>
              <a:t>Closing the gap is a top-line problem, won account by account by sellers</a:t>
            </a:r>
            <a:endParaRPr lang="en-US" sz="1500" dirty="0"/>
          </a:p>
        </p:txBody>
      </p:sp>
      <p:sp>
        <p:nvSpPr>
          <p:cNvPr id="23" name="Text 21"/>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B75"/>
                </a:solidFill>
                <a:latin typeface="Inter" pitchFamily="34" charset="0"/>
                <a:ea typeface="Inter" pitchFamily="34" charset="-122"/>
                <a:cs typeface="Inter" pitchFamily="34" charset="-120"/>
              </a:rPr>
              <a:t>Sources: Microsoft FY26 Q4, Gartner 2026 UCaaS MQ, Zoom FY26, Zoomtopia TAM coverage. Revenue to TAM is illustrative.</a:t>
            </a:r>
            <a:endParaRPr lang="en-US" sz="1200" dirty="0"/>
          </a:p>
        </p:txBody>
      </p:sp>
      <p:sp>
        <p:nvSpPr>
          <p:cNvPr id="24"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B75"/>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1123"/>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C3A21"/>
                </a:solidFill>
                <a:latin typeface="Inter" pitchFamily="34" charset="0"/>
                <a:ea typeface="Inter" pitchFamily="34" charset="-122"/>
                <a:cs typeface="Inter" pitchFamily="34" charset="-120"/>
              </a:rPr>
              <a:t>HOW DATABOOK HELPS</a:t>
            </a:r>
            <a:endParaRPr lang="en-US" sz="1300" dirty="0"/>
          </a:p>
        </p:txBody>
      </p:sp>
      <p:sp>
        <p:nvSpPr>
          <p:cNvPr id="3" name="Text 1"/>
          <p:cNvSpPr/>
          <p:nvPr>
            <p:ph type="title"/>
          </p:nvPr>
        </p:nvSpPr>
        <p:spPr>
          <a:xfrm>
            <a:off x="812800" y="1140123"/>
            <a:ext cx="10883392" cy="1015057"/>
          </a:xfrm>
          <a:prstGeom prst="rect">
            <a:avLst/>
          </a:prstGeom>
          <a:noFill/>
          <a:ln/>
        </p:spPr>
        <p:txBody>
          <a:bodyPr wrap="square" lIns="0" tIns="0" rIns="0" bIns="0" rtlCol="0" anchor="t">
            <a:normAutofit/>
          </a:bodyPr>
          <a:lstStyle/>
          <a:p>
            <a:pPr algn="l" indent="0" marL="0">
              <a:lnSpc>
                <a:spcPts val="3903"/>
              </a:lnSpc>
              <a:buNone/>
            </a:pPr>
            <a:r>
              <a:rPr lang="en-US" sz="3717" b="1" i="0" spc="-100" kern="0" dirty="0">
                <a:solidFill>
                  <a:srgbClr val="0B0B12"/>
                </a:solidFill>
                <a:latin typeface="Inter" pitchFamily="34" charset="0"/>
                <a:ea typeface="Inter" pitchFamily="34" charset="-122"/>
                <a:cs typeface="Inter" pitchFamily="34" charset="-120"/>
              </a:rPr>
              <a:t>Databook helps Zoom go beyond target by equipping sellers to carry its vision</a:t>
            </a:r>
            <a:endParaRPr lang="en-US" sz="3717" dirty="0"/>
          </a:p>
        </p:txBody>
      </p:sp>
      <p:sp>
        <p:nvSpPr>
          <p:cNvPr id="4" name="Text 2"/>
          <p:cNvSpPr/>
          <p:nvPr/>
        </p:nvSpPr>
        <p:spPr>
          <a:xfrm>
            <a:off x="819150" y="2481312"/>
            <a:ext cx="2074218" cy="464790"/>
          </a:xfrm>
          <a:prstGeom prst="roundRect">
            <a:avLst>
              <a:gd name="adj" fmla="val 20493"/>
            </a:avLst>
          </a:prstGeom>
          <a:solidFill>
            <a:srgbClr val="FFFFFF"/>
          </a:solidFill>
          <a:ln w="12700">
            <a:solidFill>
              <a:srgbClr val="E3E0DE"/>
            </a:solidFill>
            <a:prstDash val="solid"/>
          </a:ln>
        </p:spPr>
        <p:txBody>
          <a:bodyPr wrap="square" lIns="78339" tIns="80052" rIns="78339" bIns="54652" rtlCol="0" anchor="t">
            <a:normAutofit/>
          </a:bodyPr>
          <a:lstStyle/>
          <a:p>
            <a:pPr algn="ctr" indent="0" marL="0">
              <a:lnSpc>
                <a:spcPts val="1960"/>
              </a:lnSpc>
              <a:buNone/>
            </a:pPr>
            <a:r>
              <a:rPr lang="en-US" sz="1400" b="1" dirty="0">
                <a:solidFill>
                  <a:srgbClr val="0B0B12"/>
                </a:solidFill>
                <a:latin typeface="Inter" pitchFamily="34" charset="0"/>
                <a:ea typeface="Inter" pitchFamily="34" charset="-122"/>
                <a:cs typeface="Inter" pitchFamily="34" charset="-120"/>
              </a:rPr>
              <a:t>Zoom’s vision</a:t>
            </a:r>
            <a:endParaRPr lang="en-US" sz="1400" dirty="0"/>
          </a:p>
        </p:txBody>
      </p:sp>
      <p:pic>
        <p:nvPicPr>
          <p:cNvPr id="5" name="Image 0" descr="arrow-right">    </p:cNvPr>
          <p:cNvPicPr>
            <a:picLocks noChangeAspect="1"/>
          </p:cNvPicPr>
          <p:nvPr/>
        </p:nvPicPr>
        <p:blipFill>
          <a:blip r:embed="rId1"/>
          <a:srcRect l="0" r="0" t="0" b="0"/>
          <a:stretch/>
        </p:blipFill>
        <p:spPr>
          <a:xfrm>
            <a:off x="3001318" y="2624782"/>
            <a:ext cx="355600" cy="177800"/>
          </a:xfrm>
          <a:prstGeom prst="rect">
            <a:avLst/>
          </a:prstGeom>
        </p:spPr>
      </p:pic>
      <p:sp>
        <p:nvSpPr>
          <p:cNvPr id="6" name="Text 3"/>
          <p:cNvSpPr/>
          <p:nvPr/>
        </p:nvSpPr>
        <p:spPr>
          <a:xfrm>
            <a:off x="3464868" y="2481312"/>
            <a:ext cx="2074267" cy="464790"/>
          </a:xfrm>
          <a:prstGeom prst="roundRect">
            <a:avLst>
              <a:gd name="adj" fmla="val 20493"/>
            </a:avLst>
          </a:prstGeom>
          <a:solidFill>
            <a:srgbClr val="FFFFFF"/>
          </a:solidFill>
          <a:ln w="12700">
            <a:solidFill>
              <a:srgbClr val="E3E0DE"/>
            </a:solidFill>
            <a:prstDash val="solid"/>
          </a:ln>
        </p:spPr>
        <p:txBody>
          <a:bodyPr wrap="square" lIns="78339" tIns="80052" rIns="78339" bIns="54652" rtlCol="0" anchor="t">
            <a:normAutofit/>
          </a:bodyPr>
          <a:lstStyle/>
          <a:p>
            <a:pPr algn="ctr" indent="0" marL="0">
              <a:lnSpc>
                <a:spcPts val="1960"/>
              </a:lnSpc>
              <a:buNone/>
            </a:pPr>
            <a:r>
              <a:rPr lang="en-US" sz="1400" b="1" dirty="0">
                <a:solidFill>
                  <a:srgbClr val="0B0B12"/>
                </a:solidFill>
                <a:latin typeface="Inter" pitchFamily="34" charset="0"/>
                <a:ea typeface="Inter" pitchFamily="34" charset="-122"/>
                <a:cs typeface="Inter" pitchFamily="34" charset="-120"/>
              </a:rPr>
              <a:t>Customer context</a:t>
            </a:r>
            <a:endParaRPr lang="en-US" sz="1400" dirty="0"/>
          </a:p>
        </p:txBody>
      </p:sp>
      <p:pic>
        <p:nvPicPr>
          <p:cNvPr id="7" name="Image 1" descr="arrow-right">    </p:cNvPr>
          <p:cNvPicPr>
            <a:picLocks noChangeAspect="1"/>
          </p:cNvPicPr>
          <p:nvPr/>
        </p:nvPicPr>
        <p:blipFill>
          <a:blip r:embed="rId2"/>
          <a:srcRect l="0" r="0" t="0" b="0"/>
          <a:stretch/>
        </p:blipFill>
        <p:spPr>
          <a:xfrm>
            <a:off x="5647085" y="2624782"/>
            <a:ext cx="355600" cy="177800"/>
          </a:xfrm>
          <a:prstGeom prst="rect">
            <a:avLst/>
          </a:prstGeom>
        </p:spPr>
      </p:pic>
      <p:sp>
        <p:nvSpPr>
          <p:cNvPr id="8" name="Text 4"/>
          <p:cNvSpPr/>
          <p:nvPr/>
        </p:nvSpPr>
        <p:spPr>
          <a:xfrm>
            <a:off x="6110635" y="2481312"/>
            <a:ext cx="2074218" cy="464790"/>
          </a:xfrm>
          <a:prstGeom prst="roundRect">
            <a:avLst>
              <a:gd name="adj" fmla="val 20493"/>
            </a:avLst>
          </a:prstGeom>
          <a:solidFill>
            <a:srgbClr val="FFFFFF"/>
          </a:solidFill>
          <a:ln w="12700">
            <a:solidFill>
              <a:srgbClr val="E3E0DE"/>
            </a:solidFill>
            <a:prstDash val="solid"/>
          </a:ln>
        </p:spPr>
        <p:txBody>
          <a:bodyPr wrap="square" lIns="78339" tIns="80052" rIns="78339" bIns="54652" rtlCol="0" anchor="t">
            <a:normAutofit/>
          </a:bodyPr>
          <a:lstStyle/>
          <a:p>
            <a:pPr algn="ctr" indent="0" marL="0">
              <a:lnSpc>
                <a:spcPts val="1960"/>
              </a:lnSpc>
              <a:buNone/>
            </a:pPr>
            <a:r>
              <a:rPr lang="en-US" sz="1400" b="1" dirty="0">
                <a:solidFill>
                  <a:srgbClr val="0B0B12"/>
                </a:solidFill>
                <a:latin typeface="Inter" pitchFamily="34" charset="0"/>
                <a:ea typeface="Inter" pitchFamily="34" charset="-122"/>
                <a:cs typeface="Inter" pitchFamily="34" charset="-120"/>
              </a:rPr>
              <a:t>A guided seller</a:t>
            </a:r>
            <a:endParaRPr lang="en-US" sz="1400" dirty="0"/>
          </a:p>
        </p:txBody>
      </p:sp>
      <p:pic>
        <p:nvPicPr>
          <p:cNvPr id="9" name="Image 2" descr="arrow-right">    </p:cNvPr>
          <p:cNvPicPr>
            <a:picLocks noChangeAspect="1"/>
          </p:cNvPicPr>
          <p:nvPr/>
        </p:nvPicPr>
        <p:blipFill>
          <a:blip r:embed="rId3"/>
          <a:srcRect l="0" r="0" t="0" b="0"/>
          <a:stretch/>
        </p:blipFill>
        <p:spPr>
          <a:xfrm>
            <a:off x="8292802" y="2624782"/>
            <a:ext cx="355600" cy="177800"/>
          </a:xfrm>
          <a:prstGeom prst="rect">
            <a:avLst/>
          </a:prstGeom>
        </p:spPr>
      </p:pic>
      <p:sp>
        <p:nvSpPr>
          <p:cNvPr id="10" name="Text 5"/>
          <p:cNvSpPr/>
          <p:nvPr/>
        </p:nvSpPr>
        <p:spPr>
          <a:xfrm>
            <a:off x="8756352" y="2356892"/>
            <a:ext cx="2616498" cy="713680"/>
          </a:xfrm>
          <a:prstGeom prst="roundRect">
            <a:avLst>
              <a:gd name="adj" fmla="val 13346"/>
            </a:avLst>
          </a:prstGeom>
          <a:solidFill>
            <a:srgbClr val="4558D2"/>
          </a:solidFill>
          <a:ln w="12700">
            <a:solidFill>
              <a:srgbClr val="4558D2"/>
            </a:solidFill>
            <a:prstDash val="solid"/>
          </a:ln>
        </p:spPr>
        <p:txBody>
          <a:bodyPr wrap="square" lIns="70205" tIns="80052" rIns="70205" bIns="54652" rtlCol="0" anchor="t">
            <a:normAutofit/>
          </a:bodyPr>
          <a:lstStyle/>
          <a:p>
            <a:pPr algn="ctr" indent="0" marL="0">
              <a:lnSpc>
                <a:spcPts val="1960"/>
              </a:lnSpc>
              <a:buNone/>
            </a:pPr>
            <a:r>
              <a:rPr lang="en-US" sz="1400" b="1" dirty="0">
                <a:solidFill>
                  <a:srgbClr val="FAFAF8"/>
                </a:solidFill>
                <a:latin typeface="Inter" pitchFamily="34" charset="0"/>
                <a:ea typeface="Inter" pitchFamily="34" charset="-122"/>
                <a:cs typeface="Inter" pitchFamily="34" charset="-120"/>
              </a:rPr>
              <a:t>Account sees Zoom differently</a:t>
            </a:r>
            <a:endParaRPr lang="en-US" sz="1400" dirty="0"/>
          </a:p>
        </p:txBody>
      </p:sp>
      <p:sp>
        <p:nvSpPr>
          <p:cNvPr id="11" name="Shape 6"/>
          <p:cNvSpPr/>
          <p:nvPr/>
        </p:nvSpPr>
        <p:spPr>
          <a:xfrm>
            <a:off x="815975" y="3300809"/>
            <a:ext cx="3397250" cy="2538016"/>
          </a:xfrm>
          <a:prstGeom prst="roundRect">
            <a:avLst>
              <a:gd name="adj" fmla="val 5880"/>
            </a:avLst>
          </a:prstGeom>
          <a:solidFill>
            <a:srgbClr val="FFFFFF"/>
          </a:solidFill>
          <a:ln w="6350">
            <a:solidFill>
              <a:srgbClr val="E3E0DE"/>
            </a:solidFill>
            <a:prstDash val="solid"/>
          </a:ln>
        </p:spPr>
      </p:sp>
      <p:sp>
        <p:nvSpPr>
          <p:cNvPr id="12" name="Shape 7"/>
          <p:cNvSpPr/>
          <p:nvPr/>
        </p:nvSpPr>
        <p:spPr>
          <a:xfrm>
            <a:off x="819150" y="3303984"/>
            <a:ext cx="3390900" cy="76200"/>
          </a:xfrm>
          <a:custGeom>
            <a:avLst/>
            <a:gdLst/>
            <a:ahLst/>
            <a:cxnLst/>
            <a:rect l="l" t="t" r="r" b="b"/>
            <a:pathLst>
              <a:path w="3390900" h="76200">
                <a:moveTo>
                  <a:pt x="17786" y="76200"/>
                </a:moveTo>
                <a:arcTo hR="146050" wR="146050" stAng="12514313" swAng="3685687"/>
                <a:lnTo>
                  <a:pt x="3244850" y="0"/>
                </a:lnTo>
                <a:arcTo hR="146050" wR="146050" stAng="16200000" swAng="3685687"/>
                <a:close/>
              </a:path>
            </a:pathLst>
          </a:custGeom>
          <a:solidFill>
            <a:srgbClr val="BC3A21"/>
          </a:solidFill>
          <a:ln/>
        </p:spPr>
      </p:sp>
      <p:sp>
        <p:nvSpPr>
          <p:cNvPr id="13" name="Text 8"/>
          <p:cNvSpPr/>
          <p:nvPr/>
        </p:nvSpPr>
        <p:spPr>
          <a:xfrm>
            <a:off x="1022350" y="3583384"/>
            <a:ext cx="3074035" cy="375890"/>
          </a:xfrm>
          <a:prstGeom prst="rect">
            <a:avLst/>
          </a:prstGeom>
          <a:noFill/>
          <a:ln/>
        </p:spPr>
        <p:txBody>
          <a:bodyPr wrap="square" lIns="0" tIns="0" rIns="0" bIns="0" rtlCol="0" anchor="t">
            <a:normAutofit/>
          </a:bodyPr>
          <a:lstStyle/>
          <a:p>
            <a:pPr algn="l" indent="0" marL="0">
              <a:lnSpc>
                <a:spcPts val="2760"/>
              </a:lnSpc>
              <a:buNone/>
            </a:pPr>
            <a:r>
              <a:rPr lang="en-US" sz="2300" b="1" spc="-50" kern="0" dirty="0">
                <a:solidFill>
                  <a:srgbClr val="BC3A21"/>
                </a:solidFill>
                <a:latin typeface="Inter" pitchFamily="34" charset="0"/>
                <a:ea typeface="Inter" pitchFamily="34" charset="-122"/>
                <a:cs typeface="Inter" pitchFamily="34" charset="-120"/>
              </a:rPr>
              <a:t>Revenue growth</a:t>
            </a:r>
            <a:endParaRPr lang="en-US" sz="2300" dirty="0"/>
          </a:p>
        </p:txBody>
      </p:sp>
      <p:sp>
        <p:nvSpPr>
          <p:cNvPr id="14" name="Text 9"/>
          <p:cNvSpPr/>
          <p:nvPr/>
        </p:nvSpPr>
        <p:spPr>
          <a:xfrm>
            <a:off x="1022350" y="4022775"/>
            <a:ext cx="307403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B0B12"/>
                </a:solidFill>
                <a:latin typeface="Inter" pitchFamily="34" charset="0"/>
                <a:ea typeface="Inter" pitchFamily="34" charset="-122"/>
                <a:cs typeface="Inter" pitchFamily="34" charset="-120"/>
              </a:rPr>
              <a:t>Sellers expand accounts Zoom already owns</a:t>
            </a:r>
            <a:endParaRPr lang="en-US" sz="1400" dirty="0"/>
          </a:p>
        </p:txBody>
      </p:sp>
      <p:sp>
        <p:nvSpPr>
          <p:cNvPr id="15" name="Text 10"/>
          <p:cNvSpPr/>
          <p:nvPr/>
        </p:nvSpPr>
        <p:spPr>
          <a:xfrm>
            <a:off x="1022350" y="4591695"/>
            <a:ext cx="307403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852"/>
                </a:solidFill>
                <a:latin typeface="Inter" pitchFamily="34" charset="0"/>
                <a:ea typeface="Inter" pitchFamily="34" charset="-122"/>
                <a:cs typeface="Inter" pitchFamily="34" charset="-120"/>
              </a:rPr>
              <a:t>An executive case for change: why change, why now, why us</a:t>
            </a:r>
            <a:endParaRPr lang="en-US" sz="1400" dirty="0"/>
          </a:p>
        </p:txBody>
      </p:sp>
      <p:sp>
        <p:nvSpPr>
          <p:cNvPr id="16" name="Shape 11"/>
          <p:cNvSpPr/>
          <p:nvPr/>
        </p:nvSpPr>
        <p:spPr>
          <a:xfrm>
            <a:off x="1022350" y="5166965"/>
            <a:ext cx="2984500" cy="0"/>
          </a:xfrm>
          <a:prstGeom prst="line">
            <a:avLst/>
          </a:prstGeom>
          <a:noFill/>
          <a:ln w="12700">
            <a:solidFill>
              <a:srgbClr val="E3E0DE"/>
            </a:solidFill>
            <a:prstDash val="solid"/>
          </a:ln>
        </p:spPr>
      </p:sp>
      <p:sp>
        <p:nvSpPr>
          <p:cNvPr id="17" name="Text 12"/>
          <p:cNvSpPr/>
          <p:nvPr/>
        </p:nvSpPr>
        <p:spPr>
          <a:xfrm>
            <a:off x="1022350" y="5262215"/>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6B75"/>
                </a:solidFill>
                <a:latin typeface="Inter" pitchFamily="34" charset="0"/>
                <a:ea typeface="Inter" pitchFamily="34" charset="-122"/>
                <a:cs typeface="Inter" pitchFamily="34" charset="-120"/>
              </a:rPr>
              <a:t>Measured by: expansion, win rate</a:t>
            </a:r>
            <a:endParaRPr lang="en-US" sz="1200" dirty="0"/>
          </a:p>
        </p:txBody>
      </p:sp>
      <p:sp>
        <p:nvSpPr>
          <p:cNvPr id="18" name="Shape 13"/>
          <p:cNvSpPr/>
          <p:nvPr/>
        </p:nvSpPr>
        <p:spPr>
          <a:xfrm>
            <a:off x="4397375" y="3300809"/>
            <a:ext cx="3397250" cy="2538016"/>
          </a:xfrm>
          <a:prstGeom prst="roundRect">
            <a:avLst>
              <a:gd name="adj" fmla="val 5880"/>
            </a:avLst>
          </a:prstGeom>
          <a:solidFill>
            <a:srgbClr val="FFFFFF"/>
          </a:solidFill>
          <a:ln w="6350">
            <a:solidFill>
              <a:srgbClr val="E3E0DE"/>
            </a:solidFill>
            <a:prstDash val="solid"/>
          </a:ln>
        </p:spPr>
      </p:sp>
      <p:sp>
        <p:nvSpPr>
          <p:cNvPr id="19" name="Shape 14"/>
          <p:cNvSpPr/>
          <p:nvPr/>
        </p:nvSpPr>
        <p:spPr>
          <a:xfrm>
            <a:off x="4400550" y="3303984"/>
            <a:ext cx="3390900" cy="76200"/>
          </a:xfrm>
          <a:custGeom>
            <a:avLst/>
            <a:gdLst/>
            <a:ahLst/>
            <a:cxnLst/>
            <a:rect l="l" t="t" r="r" b="b"/>
            <a:pathLst>
              <a:path w="3390900" h="76200">
                <a:moveTo>
                  <a:pt x="17786" y="76200"/>
                </a:moveTo>
                <a:arcTo hR="146050" wR="146050" stAng="12514313" swAng="3685687"/>
                <a:lnTo>
                  <a:pt x="3244850" y="0"/>
                </a:lnTo>
                <a:arcTo hR="146050" wR="146050" stAng="16200000" swAng="3685687"/>
                <a:close/>
              </a:path>
            </a:pathLst>
          </a:custGeom>
          <a:solidFill>
            <a:srgbClr val="804979"/>
          </a:solidFill>
          <a:ln/>
        </p:spPr>
      </p:sp>
      <p:sp>
        <p:nvSpPr>
          <p:cNvPr id="20" name="Text 15"/>
          <p:cNvSpPr/>
          <p:nvPr/>
        </p:nvSpPr>
        <p:spPr>
          <a:xfrm>
            <a:off x="4603750" y="3583384"/>
            <a:ext cx="3074035" cy="364480"/>
          </a:xfrm>
          <a:prstGeom prst="rect">
            <a:avLst/>
          </a:prstGeom>
          <a:noFill/>
          <a:ln/>
        </p:spPr>
        <p:txBody>
          <a:bodyPr wrap="square" lIns="0" tIns="0" rIns="0" bIns="0" rtlCol="0" anchor="t">
            <a:normAutofit/>
          </a:bodyPr>
          <a:lstStyle/>
          <a:p>
            <a:pPr algn="l" indent="0" marL="0">
              <a:lnSpc>
                <a:spcPts val="2674"/>
              </a:lnSpc>
              <a:buNone/>
            </a:pPr>
            <a:r>
              <a:rPr lang="en-US" sz="2228" b="1" spc="-50" kern="0" dirty="0">
                <a:solidFill>
                  <a:srgbClr val="804979"/>
                </a:solidFill>
                <a:latin typeface="Inter" pitchFamily="34" charset="0"/>
                <a:ea typeface="Inter" pitchFamily="34" charset="-122"/>
                <a:cs typeface="Inter" pitchFamily="34" charset="-120"/>
              </a:rPr>
              <a:t>Product perception</a:t>
            </a:r>
            <a:endParaRPr lang="en-US" sz="2228" dirty="0"/>
          </a:p>
        </p:txBody>
      </p:sp>
      <p:sp>
        <p:nvSpPr>
          <p:cNvPr id="21" name="Text 16"/>
          <p:cNvSpPr/>
          <p:nvPr/>
        </p:nvSpPr>
        <p:spPr>
          <a:xfrm>
            <a:off x="4603750" y="4011364"/>
            <a:ext cx="3074035" cy="489843"/>
          </a:xfrm>
          <a:prstGeom prst="rect">
            <a:avLst/>
          </a:prstGeom>
          <a:noFill/>
          <a:ln/>
        </p:spPr>
        <p:txBody>
          <a:bodyPr wrap="square" lIns="0" tIns="0" rIns="0" bIns="0" rtlCol="0" anchor="t">
            <a:normAutofit/>
          </a:bodyPr>
          <a:lstStyle/>
          <a:p>
            <a:pPr algn="l" indent="0" marL="0">
              <a:lnSpc>
                <a:spcPts val="1837"/>
              </a:lnSpc>
              <a:buNone/>
            </a:pPr>
            <a:r>
              <a:rPr lang="en-US" sz="1361" dirty="0">
                <a:solidFill>
                  <a:srgbClr val="0B0B12"/>
                </a:solidFill>
                <a:latin typeface="Inter" pitchFamily="34" charset="0"/>
                <a:ea typeface="Inter" pitchFamily="34" charset="-122"/>
                <a:cs typeface="Inter" pitchFamily="34" charset="-120"/>
              </a:rPr>
              <a:t>Each account hears the Zoom story that fits its priorities</a:t>
            </a:r>
            <a:endParaRPr lang="en-US" sz="1361" dirty="0"/>
          </a:p>
        </p:txBody>
      </p:sp>
      <p:sp>
        <p:nvSpPr>
          <p:cNvPr id="22" name="Text 17"/>
          <p:cNvSpPr/>
          <p:nvPr/>
        </p:nvSpPr>
        <p:spPr>
          <a:xfrm>
            <a:off x="4603750" y="4564707"/>
            <a:ext cx="3074035" cy="489843"/>
          </a:xfrm>
          <a:prstGeom prst="rect">
            <a:avLst/>
          </a:prstGeom>
          <a:noFill/>
          <a:ln/>
        </p:spPr>
        <p:txBody>
          <a:bodyPr wrap="square" lIns="0" tIns="0" rIns="0" bIns="0" rtlCol="0" anchor="t">
            <a:normAutofit/>
          </a:bodyPr>
          <a:lstStyle/>
          <a:p>
            <a:pPr algn="l" indent="0" marL="0">
              <a:lnSpc>
                <a:spcPts val="1837"/>
              </a:lnSpc>
              <a:buNone/>
            </a:pPr>
            <a:r>
              <a:rPr lang="en-US" sz="1361" dirty="0">
                <a:solidFill>
                  <a:srgbClr val="4A4852"/>
                </a:solidFill>
                <a:latin typeface="Inter" pitchFamily="34" charset="0"/>
                <a:ea typeface="Inter" pitchFamily="34" charset="-122"/>
                <a:cs typeface="Inter" pitchFamily="34" charset="-120"/>
              </a:rPr>
              <a:t>From a meeting tool to an AI platform, one product at a time</a:t>
            </a:r>
            <a:endParaRPr lang="en-US" sz="1361" dirty="0"/>
          </a:p>
        </p:txBody>
      </p:sp>
      <p:sp>
        <p:nvSpPr>
          <p:cNvPr id="23" name="Shape 18"/>
          <p:cNvSpPr/>
          <p:nvPr/>
        </p:nvSpPr>
        <p:spPr>
          <a:xfrm>
            <a:off x="4603750" y="5124400"/>
            <a:ext cx="2984500" cy="0"/>
          </a:xfrm>
          <a:prstGeom prst="line">
            <a:avLst/>
          </a:prstGeom>
          <a:noFill/>
          <a:ln w="12700">
            <a:solidFill>
              <a:srgbClr val="E3E0DE"/>
            </a:solidFill>
            <a:prstDash val="solid"/>
          </a:ln>
        </p:spPr>
      </p:sp>
      <p:sp>
        <p:nvSpPr>
          <p:cNvPr id="24" name="Text 19"/>
          <p:cNvSpPr/>
          <p:nvPr/>
        </p:nvSpPr>
        <p:spPr>
          <a:xfrm>
            <a:off x="4603750" y="5219650"/>
            <a:ext cx="3074035" cy="438200"/>
          </a:xfrm>
          <a:prstGeom prst="rect">
            <a:avLst/>
          </a:prstGeom>
          <a:noFill/>
          <a:ln/>
        </p:spPr>
        <p:txBody>
          <a:bodyPr wrap="square" lIns="0" tIns="0" rIns="0" bIns="0" rtlCol="0" anchor="t">
            <a:normAutofit/>
          </a:bodyPr>
          <a:lstStyle/>
          <a:p>
            <a:pPr algn="l" indent="0" marL="0">
              <a:lnSpc>
                <a:spcPts val="1633"/>
              </a:lnSpc>
              <a:buNone/>
            </a:pPr>
            <a:r>
              <a:rPr lang="en-US" sz="1166" b="1" dirty="0">
                <a:solidFill>
                  <a:srgbClr val="6E6B75"/>
                </a:solidFill>
                <a:latin typeface="Inter" pitchFamily="34" charset="0"/>
                <a:ea typeface="Inter" pitchFamily="34" charset="-122"/>
                <a:cs typeface="Inter" pitchFamily="34" charset="-120"/>
              </a:rPr>
              <a:t>Measured by: product attach, executive engagement</a:t>
            </a:r>
            <a:endParaRPr lang="en-US" sz="1166" dirty="0"/>
          </a:p>
        </p:txBody>
      </p:sp>
      <p:sp>
        <p:nvSpPr>
          <p:cNvPr id="25" name="Shape 20"/>
          <p:cNvSpPr/>
          <p:nvPr/>
        </p:nvSpPr>
        <p:spPr>
          <a:xfrm>
            <a:off x="7978775" y="3300809"/>
            <a:ext cx="3397250" cy="2538016"/>
          </a:xfrm>
          <a:prstGeom prst="roundRect">
            <a:avLst>
              <a:gd name="adj" fmla="val 5880"/>
            </a:avLst>
          </a:prstGeom>
          <a:solidFill>
            <a:srgbClr val="FFFFFF"/>
          </a:solidFill>
          <a:ln w="6350">
            <a:solidFill>
              <a:srgbClr val="E3E0DE"/>
            </a:solidFill>
            <a:prstDash val="solid"/>
          </a:ln>
        </p:spPr>
      </p:sp>
      <p:sp>
        <p:nvSpPr>
          <p:cNvPr id="26" name="Shape 21"/>
          <p:cNvSpPr/>
          <p:nvPr/>
        </p:nvSpPr>
        <p:spPr>
          <a:xfrm>
            <a:off x="7981950" y="3303984"/>
            <a:ext cx="3390900" cy="76200"/>
          </a:xfrm>
          <a:custGeom>
            <a:avLst/>
            <a:gdLst/>
            <a:ahLst/>
            <a:cxnLst/>
            <a:rect l="l" t="t" r="r" b="b"/>
            <a:pathLst>
              <a:path w="3390900" h="76200">
                <a:moveTo>
                  <a:pt x="17786" y="76200"/>
                </a:moveTo>
                <a:arcTo hR="146050" wR="146050" stAng="12514313" swAng="3685687"/>
                <a:lnTo>
                  <a:pt x="3244850" y="0"/>
                </a:lnTo>
                <a:arcTo hR="146050" wR="146050" stAng="16200000" swAng="3685687"/>
                <a:close/>
              </a:path>
            </a:pathLst>
          </a:custGeom>
          <a:solidFill>
            <a:srgbClr val="4558D2"/>
          </a:solidFill>
          <a:ln/>
        </p:spPr>
      </p:sp>
      <p:sp>
        <p:nvSpPr>
          <p:cNvPr id="27" name="Text 22"/>
          <p:cNvSpPr/>
          <p:nvPr/>
        </p:nvSpPr>
        <p:spPr>
          <a:xfrm>
            <a:off x="8185150" y="3583384"/>
            <a:ext cx="3074035" cy="364480"/>
          </a:xfrm>
          <a:prstGeom prst="rect">
            <a:avLst/>
          </a:prstGeom>
          <a:noFill/>
          <a:ln/>
        </p:spPr>
        <p:txBody>
          <a:bodyPr wrap="square" lIns="0" tIns="0" rIns="0" bIns="0" rtlCol="0" anchor="t">
            <a:normAutofit/>
          </a:bodyPr>
          <a:lstStyle/>
          <a:p>
            <a:pPr algn="l" indent="0" marL="0">
              <a:lnSpc>
                <a:spcPts val="2674"/>
              </a:lnSpc>
              <a:buNone/>
            </a:pPr>
            <a:r>
              <a:rPr lang="en-US" sz="2228" b="1" spc="-50" kern="0" dirty="0">
                <a:solidFill>
                  <a:srgbClr val="4558D2"/>
                </a:solidFill>
                <a:latin typeface="Inter" pitchFamily="34" charset="0"/>
                <a:ea typeface="Inter" pitchFamily="34" charset="-122"/>
                <a:cs typeface="Inter" pitchFamily="34" charset="-120"/>
              </a:rPr>
              <a:t>Win rate vs rivals</a:t>
            </a:r>
            <a:endParaRPr lang="en-US" sz="2228" dirty="0"/>
          </a:p>
        </p:txBody>
      </p:sp>
      <p:sp>
        <p:nvSpPr>
          <p:cNvPr id="28" name="Text 23"/>
          <p:cNvSpPr/>
          <p:nvPr/>
        </p:nvSpPr>
        <p:spPr>
          <a:xfrm>
            <a:off x="8185150" y="4011364"/>
            <a:ext cx="3074035" cy="489843"/>
          </a:xfrm>
          <a:prstGeom prst="rect">
            <a:avLst/>
          </a:prstGeom>
          <a:noFill/>
          <a:ln/>
        </p:spPr>
        <p:txBody>
          <a:bodyPr wrap="square" lIns="0" tIns="0" rIns="0" bIns="0" rtlCol="0" anchor="t">
            <a:normAutofit/>
          </a:bodyPr>
          <a:lstStyle/>
          <a:p>
            <a:pPr algn="l" indent="0" marL="0">
              <a:lnSpc>
                <a:spcPts val="1837"/>
              </a:lnSpc>
              <a:buNone/>
            </a:pPr>
            <a:r>
              <a:rPr lang="en-US" sz="1361" dirty="0">
                <a:solidFill>
                  <a:srgbClr val="0B0B12"/>
                </a:solidFill>
                <a:latin typeface="Inter" pitchFamily="34" charset="0"/>
                <a:ea typeface="Inter" pitchFamily="34" charset="-122"/>
                <a:cs typeface="Inter" pitchFamily="34" charset="-120"/>
              </a:rPr>
              <a:t>Rival exposure seen by account and deal, before it is lost</a:t>
            </a:r>
            <a:endParaRPr lang="en-US" sz="1361" dirty="0"/>
          </a:p>
        </p:txBody>
      </p:sp>
      <p:sp>
        <p:nvSpPr>
          <p:cNvPr id="29" name="Text 24"/>
          <p:cNvSpPr/>
          <p:nvPr/>
        </p:nvSpPr>
        <p:spPr>
          <a:xfrm>
            <a:off x="8185150" y="4564707"/>
            <a:ext cx="3074035" cy="489843"/>
          </a:xfrm>
          <a:prstGeom prst="rect">
            <a:avLst/>
          </a:prstGeom>
          <a:noFill/>
          <a:ln/>
        </p:spPr>
        <p:txBody>
          <a:bodyPr wrap="square" lIns="0" tIns="0" rIns="0" bIns="0" rtlCol="0" anchor="t">
            <a:normAutofit/>
          </a:bodyPr>
          <a:lstStyle/>
          <a:p>
            <a:pPr algn="l" indent="0" marL="0">
              <a:lnSpc>
                <a:spcPts val="1837"/>
              </a:lnSpc>
              <a:buNone/>
            </a:pPr>
            <a:r>
              <a:rPr lang="en-US" sz="1361" dirty="0">
                <a:solidFill>
                  <a:srgbClr val="4A4852"/>
                </a:solidFill>
                <a:latin typeface="Inter" pitchFamily="34" charset="0"/>
                <a:ea typeface="Inter" pitchFamily="34" charset="-122"/>
                <a:cs typeface="Inter" pitchFamily="34" charset="-120"/>
              </a:rPr>
              <a:t>Compete plays when a rival is in the deal</a:t>
            </a:r>
            <a:endParaRPr lang="en-US" sz="1361" dirty="0"/>
          </a:p>
        </p:txBody>
      </p:sp>
      <p:sp>
        <p:nvSpPr>
          <p:cNvPr id="30" name="Shape 25"/>
          <p:cNvSpPr/>
          <p:nvPr/>
        </p:nvSpPr>
        <p:spPr>
          <a:xfrm>
            <a:off x="8185150" y="5124400"/>
            <a:ext cx="2984500" cy="0"/>
          </a:xfrm>
          <a:prstGeom prst="line">
            <a:avLst/>
          </a:prstGeom>
          <a:noFill/>
          <a:ln w="12700">
            <a:solidFill>
              <a:srgbClr val="E3E0DE"/>
            </a:solidFill>
            <a:prstDash val="solid"/>
          </a:ln>
        </p:spPr>
      </p:sp>
      <p:sp>
        <p:nvSpPr>
          <p:cNvPr id="31" name="Text 26"/>
          <p:cNvSpPr/>
          <p:nvPr/>
        </p:nvSpPr>
        <p:spPr>
          <a:xfrm>
            <a:off x="8185150" y="5219650"/>
            <a:ext cx="3074035" cy="438200"/>
          </a:xfrm>
          <a:prstGeom prst="rect">
            <a:avLst/>
          </a:prstGeom>
          <a:noFill/>
          <a:ln/>
        </p:spPr>
        <p:txBody>
          <a:bodyPr wrap="square" lIns="0" tIns="0" rIns="0" bIns="0" rtlCol="0" anchor="t">
            <a:normAutofit/>
          </a:bodyPr>
          <a:lstStyle/>
          <a:p>
            <a:pPr algn="l" indent="0" marL="0">
              <a:lnSpc>
                <a:spcPts val="1633"/>
              </a:lnSpc>
              <a:buNone/>
            </a:pPr>
            <a:r>
              <a:rPr lang="en-US" sz="1166" b="1" dirty="0">
                <a:solidFill>
                  <a:srgbClr val="6E6B75"/>
                </a:solidFill>
                <a:latin typeface="Inter" pitchFamily="34" charset="0"/>
                <a:ea typeface="Inter" pitchFamily="34" charset="-122"/>
                <a:cs typeface="Inter" pitchFamily="34" charset="-120"/>
              </a:rPr>
              <a:t>Measured by: win rate against named rivals</a:t>
            </a:r>
            <a:endParaRPr lang="en-US" sz="1166" dirty="0"/>
          </a:p>
        </p:txBody>
      </p:sp>
      <p:sp>
        <p:nvSpPr>
          <p:cNvPr id="32" name="Text 2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B75"/>
                </a:solidFill>
                <a:latin typeface="Inter" pitchFamily="34" charset="0"/>
                <a:ea typeface="Inter" pitchFamily="34" charset="-122"/>
                <a:cs typeface="Inter" pitchFamily="34" charset="-120"/>
              </a:rPr>
              <a:t>Zoom CRO · GTM Decision System · Mock engagement</a:t>
            </a:r>
            <a:endParaRPr lang="en-US" sz="1200" dirty="0"/>
          </a:p>
        </p:txBody>
      </p:sp>
      <p:sp>
        <p:nvSpPr>
          <p:cNvPr id="901" name="Worked example"/>
          <p:cNvSpPr/>
          <p:nvPr/>
        </p:nvSpPr>
        <p:spPr>
          <a:xfrm>
            <a:off x="812800" y="5890000"/>
            <a:ext cx="10900000" cy="300000"/>
          </a:xfrm>
          <a:prstGeom prst="rect">
            <a:avLst/>
          </a:prstGeom>
          <a:noFill/>
          <a:ln/>
        </p:spPr>
        <p:txBody>
          <a:bodyPr wrap="square" lIns="0" tIns="0" rIns="0" bIns="0" rtlCol="0" anchor="t">
            <a:normAutofit/>
          </a:bodyPr>
          <a:lstStyle/>
          <a:p>
            <a:pPr algn="l" indent="0" marL="0">
              <a:lnSpc>
                <a:spcPts val="1680"/>
              </a:lnSpc>
              <a:buNone/>
            </a:pPr>
            <a:r>
              <a:rPr lang="en-US" sz="1300" dirty="0">
                <a:solidFill>
                  <a:srgbClr val="4A4852"/>
                </a:solidFill>
                <a:latin typeface="Inter" pitchFamily="34" charset="0"/>
                <a:ea typeface="Inter" pitchFamily="34" charset="-122"/>
                <a:cs typeface="Inter" pitchFamily="34" charset="-120"/>
              </a:rPr>
              <a:t>Example, Northwind (mock): stated Q3 cost mandate → Contact Center → reframed pitch → dated buyer step</a:t>
            </a:r>
            <a:endParaRPr lang="en-US" sz="1300" dirty="0"/>
          </a:p>
        </p:txBody>
      </p:sp>
      <p:sp>
        <p:nvSpPr>
          <p:cNvPr id="33" name="Text 2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B75"/>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12"/>
        </a:solidFill>
      </p:bgPr>
    </p:bg>
    <p:spTree>
      <p:nvGrpSpPr>
        <p:cNvPr id="1" name=""/>
        <p:cNvGrpSpPr/>
        <p:nvPr/>
      </p:nvGrpSpPr>
      <p:grpSpPr>
        <a:xfrm>
          <a:off x="0" y="0"/>
          <a:ext cx="0" cy="0"/>
          <a:chOff x="0" y="0"/>
          <a:chExt cx="0" cy="0"/>
        </a:xfrm>
      </p:grpSpPr>
      <p:sp>
        <p:nvSpPr>
          <p:cNvPr id="2" name="Text 0"/>
          <p:cNvSpPr/>
          <p:nvPr/>
        </p:nvSpPr>
        <p:spPr>
          <a:xfrm>
            <a:off x="812800" y="812800"/>
            <a:ext cx="10883392" cy="252661"/>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DE605E"/>
                </a:solidFill>
                <a:latin typeface="Inter" pitchFamily="34" charset="0"/>
                <a:ea typeface="Inter" pitchFamily="34" charset="-122"/>
                <a:cs typeface="Inter" pitchFamily="34" charset="-120"/>
              </a:rPr>
              <a:t>THE DECISION SYSTEM</a:t>
            </a:r>
            <a:endParaRPr lang="en-US" sz="1300" dirty="0"/>
          </a:p>
        </p:txBody>
      </p:sp>
      <p:sp>
        <p:nvSpPr>
          <p:cNvPr id="3" name="Text 1"/>
          <p:cNvSpPr/>
          <p:nvPr>
            <p:ph type="title"/>
          </p:nvPr>
        </p:nvSpPr>
        <p:spPr>
          <a:xfrm>
            <a:off x="812800" y="1141661"/>
            <a:ext cx="11379200" cy="523627"/>
          </a:xfrm>
          <a:prstGeom prst="rect">
            <a:avLst/>
          </a:prstGeom>
          <a:noFill/>
          <a:ln/>
        </p:spPr>
        <p:txBody>
          <a:bodyPr wrap="square" lIns="0" tIns="0" rIns="0" bIns="0" rtlCol="0" anchor="t">
            <a:normAutofit/>
          </a:bodyPr>
          <a:lstStyle/>
          <a:p>
            <a:pPr algn="l" indent="0" marL="0">
              <a:lnSpc>
                <a:spcPts val="3915"/>
              </a:lnSpc>
              <a:buNone/>
            </a:pPr>
            <a:r>
              <a:rPr lang="en-US" sz="3729" b="1" i="0" spc="-100" kern="0" dirty="0">
                <a:solidFill>
                  <a:srgbClr val="FAFAF8"/>
                </a:solidFill>
                <a:latin typeface="Inter" pitchFamily="34" charset="0"/>
                <a:ea typeface="Inter" pitchFamily="34" charset="-122"/>
                <a:cs typeface="Inter" pitchFamily="34" charset="-120"/>
              </a:rPr>
              <a:t>Data, intelligence and execution in one system</a:t>
            </a:r>
            <a:endParaRPr lang="en-US" sz="3729" dirty="0"/>
          </a:p>
        </p:txBody>
      </p:sp>
      <p:sp>
        <p:nvSpPr>
          <p:cNvPr id="4" name="Shape 2"/>
          <p:cNvSpPr/>
          <p:nvPr/>
        </p:nvSpPr>
        <p:spPr>
          <a:xfrm>
            <a:off x="815975" y="1871663"/>
            <a:ext cx="3397250" cy="2380952"/>
          </a:xfrm>
          <a:prstGeom prst="roundRect">
            <a:avLst>
              <a:gd name="adj" fmla="val 6267"/>
            </a:avLst>
          </a:prstGeom>
          <a:solidFill>
            <a:srgbClr val="171826"/>
          </a:solidFill>
          <a:ln w="6350">
            <a:solidFill>
              <a:srgbClr val="2C2E45"/>
            </a:solidFill>
            <a:prstDash val="solid"/>
          </a:ln>
        </p:spPr>
      </p:sp>
      <p:sp>
        <p:nvSpPr>
          <p:cNvPr id="5" name="Text 3"/>
          <p:cNvSpPr/>
          <p:nvPr/>
        </p:nvSpPr>
        <p:spPr>
          <a:xfrm>
            <a:off x="1022350" y="2078038"/>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79BF4"/>
                </a:solidFill>
                <a:latin typeface="Inter" pitchFamily="34" charset="0"/>
                <a:ea typeface="Inter" pitchFamily="34" charset="-122"/>
                <a:cs typeface="Inter" pitchFamily="34" charset="-120"/>
              </a:rPr>
              <a:t>1 · DATA LAYER</a:t>
            </a:r>
            <a:endParaRPr lang="en-US" sz="1200" dirty="0"/>
          </a:p>
        </p:txBody>
      </p:sp>
      <p:sp>
        <p:nvSpPr>
          <p:cNvPr id="6" name="Text 4"/>
          <p:cNvSpPr/>
          <p:nvPr/>
        </p:nvSpPr>
        <p:spPr>
          <a:xfrm>
            <a:off x="1022350" y="2367558"/>
            <a:ext cx="3074035" cy="360660"/>
          </a:xfrm>
          <a:prstGeom prst="rect">
            <a:avLst/>
          </a:prstGeom>
          <a:noFill/>
          <a:ln/>
        </p:spPr>
        <p:txBody>
          <a:bodyPr wrap="square" lIns="0" tIns="0" rIns="0" bIns="0" rtlCol="0" anchor="t">
            <a:normAutofit/>
          </a:bodyPr>
          <a:lstStyle/>
          <a:p>
            <a:pPr algn="l" indent="0" marL="0">
              <a:lnSpc>
                <a:spcPts val="2640"/>
              </a:lnSpc>
              <a:buNone/>
            </a:pPr>
            <a:r>
              <a:rPr lang="en-US" sz="2200" b="1" spc="-50" kern="0" dirty="0">
                <a:solidFill>
                  <a:srgbClr val="FAFAF8"/>
                </a:solidFill>
                <a:latin typeface="Inter" pitchFamily="34" charset="0"/>
                <a:ea typeface="Inter" pitchFamily="34" charset="-122"/>
                <a:cs typeface="Inter" pitchFamily="34" charset="-120"/>
              </a:rPr>
              <a:t>The map</a:t>
            </a:r>
            <a:endParaRPr lang="en-US" sz="2200" dirty="0"/>
          </a:p>
        </p:txBody>
      </p:sp>
      <p:sp>
        <p:nvSpPr>
          <p:cNvPr id="7" name="Text 5"/>
          <p:cNvSpPr/>
          <p:nvPr/>
        </p:nvSpPr>
        <p:spPr>
          <a:xfrm>
            <a:off x="1022350" y="2779018"/>
            <a:ext cx="3074035"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5D3DE"/>
                </a:solidFill>
                <a:latin typeface="Inter" pitchFamily="34" charset="0"/>
                <a:ea typeface="Inter" pitchFamily="34" charset="-122"/>
                <a:cs typeface="Inter" pitchFamily="34" charset="-120"/>
              </a:rPr>
              <a:t>Four feeds resolved to one company: 39% by text matching, 99% with Databook</a:t>
            </a:r>
            <a:endParaRPr lang="en-US" sz="1300" dirty="0"/>
          </a:p>
        </p:txBody>
      </p:sp>
      <p:sp>
        <p:nvSpPr>
          <p:cNvPr id="8" name="Text 6"/>
          <p:cNvSpPr/>
          <p:nvPr/>
        </p:nvSpPr>
        <p:spPr>
          <a:xfrm>
            <a:off x="1022350" y="3523754"/>
            <a:ext cx="307403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5D3DE"/>
                </a:solidFill>
                <a:latin typeface="Inter" pitchFamily="34" charset="0"/>
                <a:ea typeface="Inter" pitchFamily="34" charset="-122"/>
                <a:cs typeface="Inter" pitchFamily="34" charset="-120"/>
              </a:rPr>
              <a:t>Every claim traces back to evidence</a:t>
            </a:r>
            <a:endParaRPr lang="en-US" sz="1300" dirty="0"/>
          </a:p>
        </p:txBody>
      </p:sp>
      <p:sp>
        <p:nvSpPr>
          <p:cNvPr id="9" name="Shape 7"/>
          <p:cNvSpPr/>
          <p:nvPr/>
        </p:nvSpPr>
        <p:spPr>
          <a:xfrm>
            <a:off x="4397375" y="1871663"/>
            <a:ext cx="3397250" cy="2380952"/>
          </a:xfrm>
          <a:prstGeom prst="roundRect">
            <a:avLst>
              <a:gd name="adj" fmla="val 6267"/>
            </a:avLst>
          </a:prstGeom>
          <a:solidFill>
            <a:srgbClr val="171826"/>
          </a:solidFill>
          <a:ln w="6350">
            <a:solidFill>
              <a:srgbClr val="2C2E45"/>
            </a:solidFill>
            <a:prstDash val="solid"/>
          </a:ln>
        </p:spPr>
      </p:sp>
      <p:sp>
        <p:nvSpPr>
          <p:cNvPr id="10" name="Text 8"/>
          <p:cNvSpPr/>
          <p:nvPr/>
        </p:nvSpPr>
        <p:spPr>
          <a:xfrm>
            <a:off x="4603750" y="2078038"/>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79BF4"/>
                </a:solidFill>
                <a:latin typeface="Inter" pitchFamily="34" charset="0"/>
                <a:ea typeface="Inter" pitchFamily="34" charset="-122"/>
                <a:cs typeface="Inter" pitchFamily="34" charset="-120"/>
              </a:rPr>
              <a:t>2 · INTELLIGENCE LAYER</a:t>
            </a:r>
            <a:endParaRPr lang="en-US" sz="1200" dirty="0"/>
          </a:p>
        </p:txBody>
      </p:sp>
      <p:sp>
        <p:nvSpPr>
          <p:cNvPr id="11" name="Text 9"/>
          <p:cNvSpPr/>
          <p:nvPr/>
        </p:nvSpPr>
        <p:spPr>
          <a:xfrm>
            <a:off x="4603750" y="2367558"/>
            <a:ext cx="3074035" cy="360660"/>
          </a:xfrm>
          <a:prstGeom prst="rect">
            <a:avLst/>
          </a:prstGeom>
          <a:noFill/>
          <a:ln/>
        </p:spPr>
        <p:txBody>
          <a:bodyPr wrap="square" lIns="0" tIns="0" rIns="0" bIns="0" rtlCol="0" anchor="t">
            <a:normAutofit/>
          </a:bodyPr>
          <a:lstStyle/>
          <a:p>
            <a:pPr algn="l" indent="0" marL="0">
              <a:lnSpc>
                <a:spcPts val="2640"/>
              </a:lnSpc>
              <a:buNone/>
            </a:pPr>
            <a:r>
              <a:rPr lang="en-US" sz="2200" b="1" spc="-50" kern="0" dirty="0">
                <a:solidFill>
                  <a:srgbClr val="FAFAF8"/>
                </a:solidFill>
                <a:latin typeface="Inter" pitchFamily="34" charset="0"/>
                <a:ea typeface="Inter" pitchFamily="34" charset="-122"/>
                <a:cs typeface="Inter" pitchFamily="34" charset="-120"/>
              </a:rPr>
              <a:t>The routing engine</a:t>
            </a:r>
            <a:endParaRPr lang="en-US" sz="2200" dirty="0"/>
          </a:p>
        </p:txBody>
      </p:sp>
      <p:sp>
        <p:nvSpPr>
          <p:cNvPr id="12" name="Text 10"/>
          <p:cNvSpPr/>
          <p:nvPr/>
        </p:nvSpPr>
        <p:spPr>
          <a:xfrm>
            <a:off x="4603750" y="2779018"/>
            <a:ext cx="307403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5D3DE"/>
                </a:solidFill>
                <a:latin typeface="Inter" pitchFamily="34" charset="0"/>
                <a:ea typeface="Inter" pitchFamily="34" charset="-122"/>
                <a:cs typeface="Inter" pitchFamily="34" charset="-120"/>
              </a:rPr>
              <a:t>Reasoning decides what matters, why, and what to do</a:t>
            </a:r>
            <a:endParaRPr lang="en-US" sz="1300" dirty="0"/>
          </a:p>
        </p:txBody>
      </p:sp>
      <p:sp>
        <p:nvSpPr>
          <p:cNvPr id="13" name="Text 11"/>
          <p:cNvSpPr/>
          <p:nvPr/>
        </p:nvSpPr>
        <p:spPr>
          <a:xfrm>
            <a:off x="4603750" y="3300909"/>
            <a:ext cx="307403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5D3DE"/>
                </a:solidFill>
                <a:latin typeface="Inter" pitchFamily="34" charset="0"/>
                <a:ea typeface="Inter" pitchFamily="34" charset="-122"/>
                <a:cs typeface="Inter" pitchFamily="34" charset="-120"/>
              </a:rPr>
              <a:t>Aims for one consistent strategy per account, whoever the seller</a:t>
            </a:r>
            <a:endParaRPr lang="en-US" sz="1300" dirty="0"/>
          </a:p>
        </p:txBody>
      </p:sp>
      <p:sp>
        <p:nvSpPr>
          <p:cNvPr id="14" name="Shape 12"/>
          <p:cNvSpPr/>
          <p:nvPr/>
        </p:nvSpPr>
        <p:spPr>
          <a:xfrm>
            <a:off x="7978775" y="1871663"/>
            <a:ext cx="3397250" cy="2380952"/>
          </a:xfrm>
          <a:prstGeom prst="roundRect">
            <a:avLst>
              <a:gd name="adj" fmla="val 6267"/>
            </a:avLst>
          </a:prstGeom>
          <a:solidFill>
            <a:srgbClr val="171826"/>
          </a:solidFill>
          <a:ln w="6350">
            <a:solidFill>
              <a:srgbClr val="2C2E45"/>
            </a:solidFill>
            <a:prstDash val="solid"/>
          </a:ln>
        </p:spPr>
      </p:sp>
      <p:sp>
        <p:nvSpPr>
          <p:cNvPr id="15" name="Text 13"/>
          <p:cNvSpPr/>
          <p:nvPr/>
        </p:nvSpPr>
        <p:spPr>
          <a:xfrm>
            <a:off x="8185150" y="2078038"/>
            <a:ext cx="3074035" cy="234454"/>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879BF4"/>
                </a:solidFill>
                <a:latin typeface="Inter" pitchFamily="34" charset="0"/>
                <a:ea typeface="Inter" pitchFamily="34" charset="-122"/>
                <a:cs typeface="Inter" pitchFamily="34" charset="-120"/>
              </a:rPr>
              <a:t>3 · EXECUTION LAYER</a:t>
            </a:r>
            <a:endParaRPr lang="en-US" sz="1196" dirty="0"/>
          </a:p>
        </p:txBody>
      </p:sp>
      <p:sp>
        <p:nvSpPr>
          <p:cNvPr id="16" name="Text 14"/>
          <p:cNvSpPr/>
          <p:nvPr/>
        </p:nvSpPr>
        <p:spPr>
          <a:xfrm>
            <a:off x="8185150" y="2363291"/>
            <a:ext cx="3074035" cy="682427"/>
          </a:xfrm>
          <a:prstGeom prst="rect">
            <a:avLst/>
          </a:prstGeom>
          <a:noFill/>
          <a:ln/>
        </p:spPr>
        <p:txBody>
          <a:bodyPr wrap="square" lIns="0" tIns="0" rIns="0" bIns="0" rtlCol="0" anchor="t">
            <a:normAutofit/>
          </a:bodyPr>
          <a:lstStyle/>
          <a:p>
            <a:pPr algn="l" indent="0" marL="0">
              <a:lnSpc>
                <a:spcPts val="2582"/>
              </a:lnSpc>
              <a:buNone/>
            </a:pPr>
            <a:r>
              <a:rPr lang="en-US" sz="2152" b="1" spc="-50" kern="0" dirty="0">
                <a:solidFill>
                  <a:srgbClr val="FAFAF8"/>
                </a:solidFill>
                <a:latin typeface="Inter" pitchFamily="34" charset="0"/>
                <a:ea typeface="Inter" pitchFamily="34" charset="-122"/>
                <a:cs typeface="Inter" pitchFamily="34" charset="-120"/>
              </a:rPr>
              <a:t>Guidance and analytics</a:t>
            </a:r>
            <a:endParaRPr lang="en-US" sz="2152" dirty="0"/>
          </a:p>
        </p:txBody>
      </p:sp>
      <p:sp>
        <p:nvSpPr>
          <p:cNvPr id="17" name="Text 15"/>
          <p:cNvSpPr/>
          <p:nvPr/>
        </p:nvSpPr>
        <p:spPr>
          <a:xfrm>
            <a:off x="8185150" y="3096518"/>
            <a:ext cx="3074035" cy="462161"/>
          </a:xfrm>
          <a:prstGeom prst="rect">
            <a:avLst/>
          </a:prstGeom>
          <a:noFill/>
          <a:ln/>
        </p:spPr>
        <p:txBody>
          <a:bodyPr wrap="square" lIns="0" tIns="0" rIns="0" bIns="0" rtlCol="0" anchor="t">
            <a:normAutofit/>
          </a:bodyPr>
          <a:lstStyle/>
          <a:p>
            <a:pPr algn="l" indent="0" marL="0">
              <a:lnSpc>
                <a:spcPts val="1733"/>
              </a:lnSpc>
              <a:buNone/>
            </a:pPr>
            <a:r>
              <a:rPr lang="en-US" sz="1284" dirty="0">
                <a:solidFill>
                  <a:srgbClr val="D5D3DE"/>
                </a:solidFill>
                <a:latin typeface="Inter" pitchFamily="34" charset="0"/>
                <a:ea typeface="Inter" pitchFamily="34" charset="-122"/>
                <a:cs typeface="Inter" pitchFamily="34" charset="-120"/>
              </a:rPr>
              <a:t>Guided plays in Slack and Salesforce, plus a seller coach</a:t>
            </a:r>
            <a:endParaRPr lang="en-US" sz="1284" dirty="0"/>
          </a:p>
        </p:txBody>
      </p:sp>
      <p:sp>
        <p:nvSpPr>
          <p:cNvPr id="18" name="Text 16"/>
          <p:cNvSpPr/>
          <p:nvPr/>
        </p:nvSpPr>
        <p:spPr>
          <a:xfrm>
            <a:off x="8185150" y="3609479"/>
            <a:ext cx="3074035" cy="462161"/>
          </a:xfrm>
          <a:prstGeom prst="rect">
            <a:avLst/>
          </a:prstGeom>
          <a:noFill/>
          <a:ln/>
        </p:spPr>
        <p:txBody>
          <a:bodyPr wrap="square" lIns="0" tIns="0" rIns="0" bIns="0" rtlCol="0" anchor="t">
            <a:normAutofit/>
          </a:bodyPr>
          <a:lstStyle/>
          <a:p>
            <a:pPr algn="l" indent="0" marL="0">
              <a:lnSpc>
                <a:spcPts val="1733"/>
              </a:lnSpc>
              <a:buNone/>
            </a:pPr>
            <a:r>
              <a:rPr lang="en-US" sz="1284" dirty="0">
                <a:solidFill>
                  <a:srgbClr val="D5D3DE"/>
                </a:solidFill>
                <a:latin typeface="Inter" pitchFamily="34" charset="0"/>
                <a:ea typeface="Inter" pitchFamily="34" charset="-122"/>
                <a:cs typeface="Inter" pitchFamily="34" charset="-120"/>
              </a:rPr>
              <a:t>A Control Center where the CRO authorizes and measures</a:t>
            </a:r>
            <a:endParaRPr lang="en-US" sz="1284" dirty="0"/>
          </a:p>
        </p:txBody>
      </p:sp>
      <p:sp>
        <p:nvSpPr>
          <p:cNvPr id="19" name="Shape 17"/>
          <p:cNvSpPr/>
          <p:nvPr/>
        </p:nvSpPr>
        <p:spPr>
          <a:xfrm>
            <a:off x="819150" y="4490740"/>
            <a:ext cx="10553700" cy="1344910"/>
          </a:xfrm>
          <a:prstGeom prst="roundRect">
            <a:avLst>
              <a:gd name="adj" fmla="val 10859"/>
            </a:avLst>
          </a:prstGeom>
          <a:solidFill>
            <a:srgbClr val="1B2244"/>
          </a:solidFill>
          <a:ln w="12700">
            <a:solidFill>
              <a:srgbClr val="5571E6"/>
            </a:solidFill>
            <a:prstDash val="solid"/>
          </a:ln>
        </p:spPr>
      </p:sp>
      <p:sp>
        <p:nvSpPr>
          <p:cNvPr id="20" name="Text 18"/>
          <p:cNvSpPr/>
          <p:nvPr/>
        </p:nvSpPr>
        <p:spPr>
          <a:xfrm>
            <a:off x="1054100" y="4674890"/>
            <a:ext cx="10386314" cy="290810"/>
          </a:xfrm>
          <a:prstGeom prst="rect">
            <a:avLst/>
          </a:prstGeom>
          <a:noFill/>
          <a:ln/>
        </p:spPr>
        <p:txBody>
          <a:bodyPr wrap="square" lIns="0" tIns="0" rIns="0" bIns="0" rtlCol="0" anchor="t">
            <a:normAutofit/>
          </a:bodyPr>
          <a:lstStyle/>
          <a:p>
            <a:pPr algn="l" indent="0" marL="0">
              <a:lnSpc>
                <a:spcPts val="2118"/>
              </a:lnSpc>
              <a:buNone/>
            </a:pPr>
            <a:r>
              <a:rPr lang="en-US" sz="1695" b="1" dirty="0">
                <a:solidFill>
                  <a:srgbClr val="FAFAF8"/>
                </a:solidFill>
                <a:latin typeface="Inter" pitchFamily="34" charset="0"/>
                <a:ea typeface="Inter" pitchFamily="34" charset="-122"/>
                <a:cs typeface="Inter" pitchFamily="34" charset="-120"/>
              </a:rPr>
              <a:t>Outcome-based pricing (Databook): platform fee plus about 3% of revenue above target</a:t>
            </a:r>
            <a:endParaRPr lang="en-US" sz="1695" dirty="0"/>
          </a:p>
        </p:txBody>
      </p:sp>
      <p:sp>
        <p:nvSpPr>
          <p:cNvPr id="21" name="Shape 19"/>
          <p:cNvSpPr/>
          <p:nvPr/>
        </p:nvSpPr>
        <p:spPr>
          <a:xfrm>
            <a:off x="1054100" y="5054600"/>
            <a:ext cx="3293517" cy="596900"/>
          </a:xfrm>
          <a:prstGeom prst="roundRect">
            <a:avLst>
              <a:gd name="adj" fmla="val 14894"/>
            </a:avLst>
          </a:prstGeom>
          <a:solidFill>
            <a:srgbClr val="252F53"/>
          </a:solidFill>
          <a:ln/>
        </p:spPr>
      </p:sp>
      <p:sp>
        <p:nvSpPr>
          <p:cNvPr id="22" name="Text 20"/>
          <p:cNvSpPr/>
          <p:nvPr/>
        </p:nvSpPr>
        <p:spPr>
          <a:xfrm>
            <a:off x="1181100" y="5143500"/>
            <a:ext cx="3130702"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E3E6FA"/>
                </a:solidFill>
                <a:latin typeface="Inter" pitchFamily="34" charset="0"/>
                <a:ea typeface="Inter" pitchFamily="34" charset="-122"/>
                <a:cs typeface="Inter" pitchFamily="34" charset="-120"/>
              </a:rPr>
              <a:t>Verified, traceable context behind every recommendation</a:t>
            </a:r>
            <a:endParaRPr lang="en-US" sz="1300" dirty="0"/>
          </a:p>
        </p:txBody>
      </p:sp>
      <p:sp>
        <p:nvSpPr>
          <p:cNvPr id="23" name="Shape 21"/>
          <p:cNvSpPr/>
          <p:nvPr/>
        </p:nvSpPr>
        <p:spPr>
          <a:xfrm>
            <a:off x="4449217" y="5054600"/>
            <a:ext cx="3293566" cy="596900"/>
          </a:xfrm>
          <a:prstGeom prst="roundRect">
            <a:avLst>
              <a:gd name="adj" fmla="val 14894"/>
            </a:avLst>
          </a:prstGeom>
          <a:solidFill>
            <a:srgbClr val="252F53"/>
          </a:solidFill>
          <a:ln/>
        </p:spPr>
      </p:sp>
      <p:sp>
        <p:nvSpPr>
          <p:cNvPr id="24" name="Text 22"/>
          <p:cNvSpPr/>
          <p:nvPr/>
        </p:nvSpPr>
        <p:spPr>
          <a:xfrm>
            <a:off x="4576217" y="5143500"/>
            <a:ext cx="3130753"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E3E6FA"/>
                </a:solidFill>
                <a:latin typeface="Inter" pitchFamily="34" charset="0"/>
                <a:ea typeface="Inter" pitchFamily="34" charset="-122"/>
                <a:cs typeface="Inter" pitchFamily="34" charset="-120"/>
              </a:rPr>
              <a:t>A baseline agreed first: the CFO’s target</a:t>
            </a:r>
            <a:endParaRPr lang="en-US" sz="1300" dirty="0"/>
          </a:p>
        </p:txBody>
      </p:sp>
      <p:sp>
        <p:nvSpPr>
          <p:cNvPr id="25" name="Shape 23"/>
          <p:cNvSpPr/>
          <p:nvPr/>
        </p:nvSpPr>
        <p:spPr>
          <a:xfrm>
            <a:off x="7844383" y="5054600"/>
            <a:ext cx="3293517" cy="596900"/>
          </a:xfrm>
          <a:prstGeom prst="roundRect">
            <a:avLst>
              <a:gd name="adj" fmla="val 14894"/>
            </a:avLst>
          </a:prstGeom>
          <a:solidFill>
            <a:srgbClr val="252F53"/>
          </a:solidFill>
          <a:ln/>
        </p:spPr>
      </p:sp>
      <p:sp>
        <p:nvSpPr>
          <p:cNvPr id="26" name="Text 24"/>
          <p:cNvSpPr/>
          <p:nvPr/>
        </p:nvSpPr>
        <p:spPr>
          <a:xfrm>
            <a:off x="7971383" y="5143500"/>
            <a:ext cx="3130702"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E3E6FA"/>
                </a:solidFill>
                <a:latin typeface="Inter" pitchFamily="34" charset="0"/>
                <a:ea typeface="Inter" pitchFamily="34" charset="-122"/>
                <a:cs typeface="Inter" pitchFamily="34" charset="-120"/>
              </a:rPr>
              <a:t>Measured by the system, not by Databook</a:t>
            </a:r>
            <a:endParaRPr lang="en-US" sz="1300" dirty="0"/>
          </a:p>
        </p:txBody>
      </p:sp>
      <p:sp>
        <p:nvSpPr>
          <p:cNvPr id="27" name="Text 25"/>
          <p:cNvSpPr/>
          <p:nvPr/>
        </p:nvSpPr>
        <p:spPr>
          <a:xfrm>
            <a:off x="812800" y="6238280"/>
            <a:ext cx="10137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9AAA"/>
                </a:solidFill>
                <a:latin typeface="Inter" pitchFamily="34" charset="0"/>
                <a:ea typeface="Inter" pitchFamily="34" charset="-122"/>
                <a:cs typeface="Inter" pitchFamily="34" charset="-120"/>
              </a:rPr>
              <a:t>Source: Databook materials and launch webinar; resolution rates and pricing are as Databook reports them</a:t>
            </a:r>
            <a:endParaRPr lang="en-US" sz="1200" dirty="0"/>
          </a:p>
        </p:txBody>
      </p:sp>
      <p:sp>
        <p:nvSpPr>
          <p:cNvPr id="902" name="Other tools"/>
          <p:cNvSpPr/>
          <p:nvPr/>
        </p:nvSpPr>
        <p:spPr>
          <a:xfrm>
            <a:off x="812800" y="4260000"/>
            <a:ext cx="10900000" cy="380000"/>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0B0B12"/>
                </a:solidFill>
                <a:latin typeface="Inter" pitchFamily="34" charset="0"/>
                <a:ea typeface="Inter" pitchFamily="34" charset="-122"/>
                <a:cs typeface="Inter" pitchFamily="34" charset="-120"/>
              </a:rPr>
              <a:t>Other tools tell you what happened, or find more data. Databook decides what to do on this account, and proves it.</a:t>
            </a:r>
            <a:endParaRPr lang="en-US" sz="1400" dirty="0"/>
          </a:p>
        </p:txBody>
      </p:sp>
      <p:sp>
        <p:nvSpPr>
          <p:cNvPr id="28" name="Text 2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C9AAA"/>
                </a:solidFill>
                <a:latin typeface="Inter" pitchFamily="34" charset="0"/>
                <a:ea typeface="Inter" pitchFamily="34" charset="-122"/>
                <a:cs typeface="Inte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C3A21"/>
                </a:solidFill>
                <a:latin typeface="Inter" pitchFamily="34" charset="0"/>
                <a:ea typeface="Inter" pitchFamily="34" charset="-122"/>
                <a:cs typeface="Inter" pitchFamily="34" charset="-120"/>
              </a:rPr>
              <a:t>SEE · FIND · DECIDE · GUIDE · PROVE</a:t>
            </a:r>
            <a:endParaRPr lang="en-US" sz="1300" dirty="0"/>
          </a:p>
        </p:txBody>
      </p:sp>
      <p:sp>
        <p:nvSpPr>
          <p:cNvPr id="3" name="Text 1"/>
          <p:cNvSpPr/>
          <p:nvPr>
            <p:ph type="title"/>
          </p:nvPr>
        </p:nvSpPr>
        <p:spPr>
          <a:xfrm>
            <a:off x="812800" y="1145530"/>
            <a:ext cx="10883392" cy="532110"/>
          </a:xfrm>
          <a:prstGeom prst="rect">
            <a:avLst/>
          </a:prstGeom>
          <a:noFill/>
          <a:ln/>
        </p:spPr>
        <p:txBody>
          <a:bodyPr wrap="square" lIns="0" tIns="0" rIns="0" bIns="0" rtlCol="0" anchor="t">
            <a:normAutofit/>
          </a:bodyPr>
          <a:lstStyle/>
          <a:p>
            <a:pPr algn="l" indent="0" marL="0">
              <a:lnSpc>
                <a:spcPts val="3990"/>
              </a:lnSpc>
              <a:buNone/>
            </a:pPr>
            <a:r>
              <a:rPr lang="en-US" sz="3800" b="1" i="0" spc="-100" kern="0" dirty="0">
                <a:solidFill>
                  <a:srgbClr val="0B0B12"/>
                </a:solidFill>
                <a:latin typeface="Inter" pitchFamily="34" charset="0"/>
                <a:ea typeface="Inter" pitchFamily="34" charset="-122"/>
                <a:cs typeface="Inter" pitchFamily="34" charset="-120"/>
              </a:rPr>
              <a:t>The CRO loop, run on Northwind</a:t>
            </a:r>
            <a:endParaRPr lang="en-US" sz="3800" dirty="0"/>
          </a:p>
        </p:txBody>
      </p:sp>
      <p:sp>
        <p:nvSpPr>
          <p:cNvPr id="4" name="Shape 2"/>
          <p:cNvSpPr/>
          <p:nvPr/>
        </p:nvSpPr>
        <p:spPr>
          <a:xfrm>
            <a:off x="815975" y="1884015"/>
            <a:ext cx="2005310" cy="3359100"/>
          </a:xfrm>
          <a:prstGeom prst="roundRect">
            <a:avLst>
              <a:gd name="adj" fmla="val 6175"/>
            </a:avLst>
          </a:prstGeom>
          <a:solidFill>
            <a:srgbClr val="FFFFFF"/>
          </a:solidFill>
          <a:ln w="6350">
            <a:solidFill>
              <a:srgbClr val="E3E0DE"/>
            </a:solidFill>
            <a:prstDash val="solid"/>
          </a:ln>
        </p:spPr>
      </p:sp>
      <p:sp>
        <p:nvSpPr>
          <p:cNvPr id="5" name="Shape 3"/>
          <p:cNvSpPr/>
          <p:nvPr/>
        </p:nvSpPr>
        <p:spPr>
          <a:xfrm>
            <a:off x="819150" y="1887190"/>
            <a:ext cx="1998960" cy="76200"/>
          </a:xfrm>
          <a:custGeom>
            <a:avLst/>
            <a:gdLst/>
            <a:ahLst/>
            <a:cxnLst/>
            <a:rect l="l" t="t" r="r" b="b"/>
            <a:pathLst>
              <a:path w="1998960" h="76200">
                <a:moveTo>
                  <a:pt x="8487" y="76200"/>
                </a:moveTo>
                <a:arcTo hR="120650" wR="120650" stAng="12097096" swAng="4102904"/>
                <a:lnTo>
                  <a:pt x="1878310" y="0"/>
                </a:lnTo>
                <a:arcTo hR="120650" wR="120650" stAng="16200000" swAng="4102904"/>
                <a:close/>
              </a:path>
            </a:pathLst>
          </a:custGeom>
          <a:solidFill>
            <a:srgbClr val="BC3A21"/>
          </a:solidFill>
          <a:ln/>
        </p:spPr>
      </p:sp>
      <p:sp>
        <p:nvSpPr>
          <p:cNvPr id="6" name="Text 4"/>
          <p:cNvSpPr/>
          <p:nvPr/>
        </p:nvSpPr>
        <p:spPr>
          <a:xfrm>
            <a:off x="946150" y="2090390"/>
            <a:ext cx="1797309" cy="360660"/>
          </a:xfrm>
          <a:prstGeom prst="rect">
            <a:avLst/>
          </a:prstGeom>
          <a:noFill/>
          <a:ln/>
        </p:spPr>
        <p:txBody>
          <a:bodyPr wrap="square" lIns="0" tIns="0" rIns="0" bIns="0" rtlCol="0" anchor="t">
            <a:normAutofit/>
          </a:bodyPr>
          <a:lstStyle/>
          <a:p>
            <a:pPr algn="l" indent="0" marL="0">
              <a:lnSpc>
                <a:spcPts val="2640"/>
              </a:lnSpc>
              <a:buNone/>
            </a:pPr>
            <a:r>
              <a:rPr lang="en-US" sz="2200" b="1" spc="-50" kern="0" dirty="0">
                <a:solidFill>
                  <a:srgbClr val="BC3A21"/>
                </a:solidFill>
                <a:latin typeface="Inter" pitchFamily="34" charset="0"/>
                <a:ea typeface="Inter" pitchFamily="34" charset="-122"/>
                <a:cs typeface="Inter" pitchFamily="34" charset="-120"/>
              </a:rPr>
              <a:t>1 · See</a:t>
            </a:r>
            <a:endParaRPr lang="en-US" sz="2200" dirty="0"/>
          </a:p>
        </p:txBody>
      </p:sp>
      <p:sp>
        <p:nvSpPr>
          <p:cNvPr id="7" name="Shape 5"/>
          <p:cNvSpPr/>
          <p:nvPr/>
        </p:nvSpPr>
        <p:spPr>
          <a:xfrm>
            <a:off x="946150" y="2501850"/>
            <a:ext cx="1744960" cy="1397000"/>
          </a:xfrm>
          <a:prstGeom prst="roundRect">
            <a:avLst>
              <a:gd name="adj" fmla="val 6364"/>
            </a:avLst>
          </a:prstGeom>
          <a:solidFill>
            <a:srgbClr val="F1F0EE"/>
          </a:solidFill>
          <a:ln/>
        </p:spPr>
      </p:sp>
      <p:sp>
        <p:nvSpPr>
          <p:cNvPr id="8" name="Shape 6"/>
          <p:cNvSpPr/>
          <p:nvPr/>
        </p:nvSpPr>
        <p:spPr>
          <a:xfrm>
            <a:off x="1047750" y="2809230"/>
            <a:ext cx="152400" cy="152400"/>
          </a:xfrm>
          <a:prstGeom prst="roundRect">
            <a:avLst>
              <a:gd name="adj" fmla="val 50000"/>
            </a:avLst>
          </a:prstGeom>
          <a:solidFill>
            <a:srgbClr val="E8A33D"/>
          </a:solidFill>
          <a:ln/>
        </p:spPr>
      </p:sp>
      <p:sp>
        <p:nvSpPr>
          <p:cNvPr id="9" name="Text 7"/>
          <p:cNvSpPr/>
          <p:nvPr/>
        </p:nvSpPr>
        <p:spPr>
          <a:xfrm>
            <a:off x="1263650" y="2778770"/>
            <a:ext cx="51196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B12"/>
                </a:solidFill>
                <a:latin typeface="Inter" pitchFamily="34" charset="0"/>
                <a:ea typeface="Inter" pitchFamily="34" charset="-122"/>
                <a:cs typeface="Inter" pitchFamily="34" charset="-120"/>
              </a:rPr>
              <a:t>AMER</a:t>
            </a:r>
            <a:endParaRPr lang="en-US" sz="1200" dirty="0"/>
          </a:p>
        </p:txBody>
      </p:sp>
      <p:sp>
        <p:nvSpPr>
          <p:cNvPr id="10" name="Text 8"/>
          <p:cNvSpPr/>
          <p:nvPr/>
        </p:nvSpPr>
        <p:spPr>
          <a:xfrm>
            <a:off x="1775619" y="2778770"/>
            <a:ext cx="800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852"/>
                </a:solidFill>
                <a:latin typeface="Inter" pitchFamily="34" charset="0"/>
                <a:ea typeface="Inter" pitchFamily="34" charset="-122"/>
                <a:cs typeface="Inter" pitchFamily="34" charset="-120"/>
              </a:rPr>
              <a:t>Watch</a:t>
            </a:r>
            <a:endParaRPr lang="en-US" sz="1200" dirty="0"/>
          </a:p>
        </p:txBody>
      </p:sp>
      <p:sp>
        <p:nvSpPr>
          <p:cNvPr id="11" name="Shape 9"/>
          <p:cNvSpPr/>
          <p:nvPr/>
        </p:nvSpPr>
        <p:spPr>
          <a:xfrm>
            <a:off x="1047750" y="3124150"/>
            <a:ext cx="152400" cy="152400"/>
          </a:xfrm>
          <a:prstGeom prst="roundRect">
            <a:avLst>
              <a:gd name="adj" fmla="val 50000"/>
            </a:avLst>
          </a:prstGeom>
          <a:solidFill>
            <a:srgbClr val="D9391F"/>
          </a:solidFill>
          <a:ln/>
        </p:spPr>
      </p:sp>
      <p:sp>
        <p:nvSpPr>
          <p:cNvPr id="12" name="Text 10"/>
          <p:cNvSpPr/>
          <p:nvPr/>
        </p:nvSpPr>
        <p:spPr>
          <a:xfrm>
            <a:off x="1263650" y="3093690"/>
            <a:ext cx="5044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B12"/>
                </a:solidFill>
                <a:latin typeface="Inter" pitchFamily="34" charset="0"/>
                <a:ea typeface="Inter" pitchFamily="34" charset="-122"/>
                <a:cs typeface="Inter" pitchFamily="34" charset="-120"/>
              </a:rPr>
              <a:t>EMEA</a:t>
            </a:r>
            <a:endParaRPr lang="en-US" sz="1200" dirty="0"/>
          </a:p>
        </p:txBody>
      </p:sp>
      <p:sp>
        <p:nvSpPr>
          <p:cNvPr id="13" name="Text 11"/>
          <p:cNvSpPr/>
          <p:nvPr/>
        </p:nvSpPr>
        <p:spPr>
          <a:xfrm>
            <a:off x="1768078" y="3093690"/>
            <a:ext cx="800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852"/>
                </a:solidFill>
                <a:latin typeface="Inter" pitchFamily="34" charset="0"/>
                <a:ea typeface="Inter" pitchFamily="34" charset="-122"/>
                <a:cs typeface="Inter" pitchFamily="34" charset="-120"/>
              </a:rPr>
              <a:t>Act now</a:t>
            </a:r>
            <a:endParaRPr lang="en-US" sz="1200" dirty="0"/>
          </a:p>
        </p:txBody>
      </p:sp>
      <p:sp>
        <p:nvSpPr>
          <p:cNvPr id="14" name="Shape 12"/>
          <p:cNvSpPr/>
          <p:nvPr/>
        </p:nvSpPr>
        <p:spPr>
          <a:xfrm>
            <a:off x="1047750" y="3439071"/>
            <a:ext cx="152400" cy="152400"/>
          </a:xfrm>
          <a:prstGeom prst="roundRect">
            <a:avLst>
              <a:gd name="adj" fmla="val 50000"/>
            </a:avLst>
          </a:prstGeom>
          <a:solidFill>
            <a:srgbClr val="D9391F"/>
          </a:solidFill>
          <a:ln/>
        </p:spPr>
      </p:sp>
      <p:sp>
        <p:nvSpPr>
          <p:cNvPr id="15" name="Text 13"/>
          <p:cNvSpPr/>
          <p:nvPr/>
        </p:nvSpPr>
        <p:spPr>
          <a:xfrm>
            <a:off x="1263650" y="3408611"/>
            <a:ext cx="4835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B12"/>
                </a:solidFill>
                <a:latin typeface="Inter" pitchFamily="34" charset="0"/>
                <a:ea typeface="Inter" pitchFamily="34" charset="-122"/>
                <a:cs typeface="Inter" pitchFamily="34" charset="-120"/>
              </a:rPr>
              <a:t>APAC</a:t>
            </a:r>
            <a:endParaRPr lang="en-US" sz="1200" dirty="0"/>
          </a:p>
        </p:txBody>
      </p:sp>
      <p:sp>
        <p:nvSpPr>
          <p:cNvPr id="16" name="Text 14"/>
          <p:cNvSpPr/>
          <p:nvPr/>
        </p:nvSpPr>
        <p:spPr>
          <a:xfrm>
            <a:off x="1747193" y="3408611"/>
            <a:ext cx="800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852"/>
                </a:solidFill>
                <a:latin typeface="Inter" pitchFamily="34" charset="0"/>
                <a:ea typeface="Inter" pitchFamily="34" charset="-122"/>
                <a:cs typeface="Inter" pitchFamily="34" charset="-120"/>
              </a:rPr>
              <a:t>Act now</a:t>
            </a:r>
            <a:endParaRPr lang="en-US" sz="1200" dirty="0"/>
          </a:p>
        </p:txBody>
      </p:sp>
      <p:sp>
        <p:nvSpPr>
          <p:cNvPr id="17" name="Text 15"/>
          <p:cNvSpPr/>
          <p:nvPr/>
        </p:nvSpPr>
        <p:spPr>
          <a:xfrm>
            <a:off x="946150" y="3975050"/>
            <a:ext cx="1797309"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B12"/>
                </a:solidFill>
                <a:latin typeface="Inter" pitchFamily="34" charset="0"/>
                <a:ea typeface="Inter" pitchFamily="34" charset="-122"/>
                <a:cs typeface="Inter" pitchFamily="34" charset="-120"/>
              </a:rPr>
              <a:t>Are we beyond target?</a:t>
            </a:r>
            <a:endParaRPr lang="en-US" sz="1400" dirty="0"/>
          </a:p>
        </p:txBody>
      </p:sp>
      <p:sp>
        <p:nvSpPr>
          <p:cNvPr id="18" name="Text 16"/>
          <p:cNvSpPr/>
          <p:nvPr/>
        </p:nvSpPr>
        <p:spPr>
          <a:xfrm>
            <a:off x="946150" y="4495750"/>
            <a:ext cx="1797309" cy="64259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E3A9E"/>
                </a:solidFill>
                <a:latin typeface="Inter" pitchFamily="34" charset="0"/>
                <a:ea typeface="Inter" pitchFamily="34" charset="-122"/>
                <a:cs typeface="Inter" pitchFamily="34" charset="-120"/>
              </a:rPr>
              <a:t>Databook:</a:t>
            </a:r>
            <a:r>
              <a:rPr lang="en-US" sz="1200" dirty="0">
                <a:solidFill>
                  <a:srgbClr val="2E3A9E"/>
                </a:solidFill>
                <a:latin typeface="Inter" pitchFamily="34" charset="0"/>
                <a:ea typeface="Inter" pitchFamily="34" charset="-122"/>
                <a:cs typeface="Inter" pitchFamily="34" charset="-120"/>
              </a:rPr>
              <a:t> every number says how Databook sees it</a:t>
            </a:r>
            <a:endParaRPr lang="en-US" sz="1200" dirty="0"/>
          </a:p>
        </p:txBody>
      </p:sp>
      <p:sp>
        <p:nvSpPr>
          <p:cNvPr id="19" name="Shape 17"/>
          <p:cNvSpPr/>
          <p:nvPr/>
        </p:nvSpPr>
        <p:spPr>
          <a:xfrm>
            <a:off x="2954635" y="1884015"/>
            <a:ext cx="2005360" cy="3359100"/>
          </a:xfrm>
          <a:prstGeom prst="roundRect">
            <a:avLst>
              <a:gd name="adj" fmla="val 6175"/>
            </a:avLst>
          </a:prstGeom>
          <a:solidFill>
            <a:srgbClr val="FFFFFF"/>
          </a:solidFill>
          <a:ln w="6350">
            <a:solidFill>
              <a:srgbClr val="E3E0DE"/>
            </a:solidFill>
            <a:prstDash val="solid"/>
          </a:ln>
        </p:spPr>
      </p:sp>
      <p:sp>
        <p:nvSpPr>
          <p:cNvPr id="20" name="Shape 18"/>
          <p:cNvSpPr/>
          <p:nvPr/>
        </p:nvSpPr>
        <p:spPr>
          <a:xfrm>
            <a:off x="2957810" y="1887190"/>
            <a:ext cx="1999010" cy="76200"/>
          </a:xfrm>
          <a:custGeom>
            <a:avLst/>
            <a:gdLst/>
            <a:ahLst/>
            <a:cxnLst/>
            <a:rect l="l" t="t" r="r" b="b"/>
            <a:pathLst>
              <a:path w="1999010" h="76200">
                <a:moveTo>
                  <a:pt x="8487" y="76200"/>
                </a:moveTo>
                <a:arcTo hR="120650" wR="120650" stAng="12097096" swAng="4102904"/>
                <a:lnTo>
                  <a:pt x="1878360" y="0"/>
                </a:lnTo>
                <a:arcTo hR="120650" wR="120650" stAng="16200000" swAng="4102904"/>
                <a:close/>
              </a:path>
            </a:pathLst>
          </a:custGeom>
          <a:solidFill>
            <a:srgbClr val="9E414D"/>
          </a:solidFill>
          <a:ln/>
        </p:spPr>
      </p:sp>
      <p:sp>
        <p:nvSpPr>
          <p:cNvPr id="21" name="Text 19"/>
          <p:cNvSpPr/>
          <p:nvPr/>
        </p:nvSpPr>
        <p:spPr>
          <a:xfrm>
            <a:off x="3084810" y="2090390"/>
            <a:ext cx="1797360" cy="360660"/>
          </a:xfrm>
          <a:prstGeom prst="rect">
            <a:avLst/>
          </a:prstGeom>
          <a:noFill/>
          <a:ln/>
        </p:spPr>
        <p:txBody>
          <a:bodyPr wrap="square" lIns="0" tIns="0" rIns="0" bIns="0" rtlCol="0" anchor="t">
            <a:normAutofit/>
          </a:bodyPr>
          <a:lstStyle/>
          <a:p>
            <a:pPr algn="l" indent="0" marL="0">
              <a:lnSpc>
                <a:spcPts val="2640"/>
              </a:lnSpc>
              <a:buNone/>
            </a:pPr>
            <a:r>
              <a:rPr lang="en-US" sz="2200" b="1" spc="-50" kern="0" dirty="0">
                <a:solidFill>
                  <a:srgbClr val="9E414D"/>
                </a:solidFill>
                <a:latin typeface="Inter" pitchFamily="34" charset="0"/>
                <a:ea typeface="Inter" pitchFamily="34" charset="-122"/>
                <a:cs typeface="Inter" pitchFamily="34" charset="-120"/>
              </a:rPr>
              <a:t>2 · Find</a:t>
            </a:r>
            <a:endParaRPr lang="en-US" sz="2200" dirty="0"/>
          </a:p>
        </p:txBody>
      </p:sp>
      <p:sp>
        <p:nvSpPr>
          <p:cNvPr id="22" name="Shape 20"/>
          <p:cNvSpPr/>
          <p:nvPr/>
        </p:nvSpPr>
        <p:spPr>
          <a:xfrm>
            <a:off x="3084810" y="2501850"/>
            <a:ext cx="1745010" cy="1397000"/>
          </a:xfrm>
          <a:prstGeom prst="roundRect">
            <a:avLst>
              <a:gd name="adj" fmla="val 6364"/>
            </a:avLst>
          </a:prstGeom>
          <a:solidFill>
            <a:srgbClr val="F1F0EE"/>
          </a:solidFill>
          <a:ln/>
        </p:spPr>
      </p:sp>
      <p:sp>
        <p:nvSpPr>
          <p:cNvPr id="23" name="Shape 21"/>
          <p:cNvSpPr/>
          <p:nvPr/>
        </p:nvSpPr>
        <p:spPr>
          <a:xfrm>
            <a:off x="3186410" y="3047950"/>
            <a:ext cx="215900" cy="381000"/>
          </a:xfrm>
          <a:prstGeom prst="roundRect">
            <a:avLst>
              <a:gd name="adj" fmla="val 17647"/>
            </a:avLst>
          </a:prstGeom>
          <a:solidFill>
            <a:srgbClr val="4558D2"/>
          </a:solidFill>
          <a:ln/>
        </p:spPr>
      </p:sp>
      <p:sp>
        <p:nvSpPr>
          <p:cNvPr id="24" name="Shape 22"/>
          <p:cNvSpPr/>
          <p:nvPr/>
        </p:nvSpPr>
        <p:spPr>
          <a:xfrm>
            <a:off x="3465810" y="2895550"/>
            <a:ext cx="215900" cy="533400"/>
          </a:xfrm>
          <a:prstGeom prst="roundRect">
            <a:avLst>
              <a:gd name="adj" fmla="val 17647"/>
            </a:avLst>
          </a:prstGeom>
          <a:solidFill>
            <a:srgbClr val="4558D2"/>
          </a:solidFill>
          <a:ln/>
        </p:spPr>
      </p:sp>
      <p:sp>
        <p:nvSpPr>
          <p:cNvPr id="25" name="Shape 23"/>
          <p:cNvSpPr/>
          <p:nvPr/>
        </p:nvSpPr>
        <p:spPr>
          <a:xfrm>
            <a:off x="3745210" y="2768550"/>
            <a:ext cx="215900" cy="660400"/>
          </a:xfrm>
          <a:prstGeom prst="roundRect">
            <a:avLst>
              <a:gd name="adj" fmla="val 17647"/>
            </a:avLst>
          </a:prstGeom>
          <a:solidFill>
            <a:srgbClr val="4558D2"/>
          </a:solidFill>
          <a:ln/>
        </p:spPr>
      </p:sp>
      <p:sp>
        <p:nvSpPr>
          <p:cNvPr id="26" name="Shape 24"/>
          <p:cNvSpPr/>
          <p:nvPr/>
        </p:nvSpPr>
        <p:spPr>
          <a:xfrm>
            <a:off x="4024610" y="2946350"/>
            <a:ext cx="215900" cy="482600"/>
          </a:xfrm>
          <a:prstGeom prst="roundRect">
            <a:avLst>
              <a:gd name="adj" fmla="val 17647"/>
            </a:avLst>
          </a:prstGeom>
          <a:solidFill>
            <a:srgbClr val="879BF4"/>
          </a:solidFill>
          <a:ln/>
        </p:spPr>
      </p:sp>
      <p:sp>
        <p:nvSpPr>
          <p:cNvPr id="27" name="Shape 25"/>
          <p:cNvSpPr/>
          <p:nvPr/>
        </p:nvSpPr>
        <p:spPr>
          <a:xfrm>
            <a:off x="4304010" y="2819350"/>
            <a:ext cx="215900" cy="609600"/>
          </a:xfrm>
          <a:prstGeom prst="roundRect">
            <a:avLst>
              <a:gd name="adj" fmla="val 17647"/>
            </a:avLst>
          </a:prstGeom>
          <a:solidFill>
            <a:srgbClr val="879BF4"/>
          </a:solidFill>
          <a:ln/>
        </p:spPr>
      </p:sp>
      <p:sp>
        <p:nvSpPr>
          <p:cNvPr id="28" name="Text 26"/>
          <p:cNvSpPr/>
          <p:nvPr/>
        </p:nvSpPr>
        <p:spPr>
          <a:xfrm>
            <a:off x="3186410" y="3505150"/>
            <a:ext cx="1643410" cy="317500"/>
          </a:xfrm>
          <a:prstGeom prst="rect">
            <a:avLst/>
          </a:prstGeom>
          <a:noFill/>
          <a:ln/>
        </p:spPr>
        <p:txBody>
          <a:bodyPr wrap="square" lIns="0" tIns="0" rIns="0" bIns="0" rtlCol="0" anchor="t">
            <a:normAutofit/>
          </a:bodyPr>
          <a:lstStyle/>
          <a:p>
            <a:pPr algn="l" indent="0" marL="0">
              <a:lnSpc>
                <a:spcPts val="1659"/>
              </a:lnSpc>
              <a:buNone/>
            </a:pPr>
            <a:r>
              <a:rPr lang="en-US" sz="1185" b="1" dirty="0">
                <a:solidFill>
                  <a:srgbClr val="4A4852"/>
                </a:solidFill>
                <a:latin typeface="Inter" pitchFamily="34" charset="0"/>
                <a:ea typeface="Inter" pitchFamily="34" charset="-122"/>
                <a:cs typeface="Inter" pitchFamily="34" charset="-120"/>
              </a:rPr>
              <a:t>Top 5 accounts</a:t>
            </a:r>
            <a:endParaRPr lang="en-US" sz="1185" dirty="0"/>
          </a:p>
        </p:txBody>
      </p:sp>
      <p:sp>
        <p:nvSpPr>
          <p:cNvPr id="29" name="Text 27"/>
          <p:cNvSpPr/>
          <p:nvPr/>
        </p:nvSpPr>
        <p:spPr>
          <a:xfrm>
            <a:off x="3084810" y="3975050"/>
            <a:ext cx="179736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B12"/>
                </a:solidFill>
                <a:latin typeface="Inter" pitchFamily="34" charset="0"/>
                <a:ea typeface="Inter" pitchFamily="34" charset="-122"/>
                <a:cs typeface="Inter" pitchFamily="34" charset="-120"/>
              </a:rPr>
              <a:t>Where do I spend my time?</a:t>
            </a:r>
            <a:endParaRPr lang="en-US" sz="1400" dirty="0"/>
          </a:p>
        </p:txBody>
      </p:sp>
      <p:sp>
        <p:nvSpPr>
          <p:cNvPr id="30" name="Text 28"/>
          <p:cNvSpPr/>
          <p:nvPr/>
        </p:nvSpPr>
        <p:spPr>
          <a:xfrm>
            <a:off x="3084810" y="4495750"/>
            <a:ext cx="1797360" cy="64259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E3A9E"/>
                </a:solidFill>
                <a:latin typeface="Inter" pitchFamily="34" charset="0"/>
                <a:ea typeface="Inter" pitchFamily="34" charset="-122"/>
                <a:cs typeface="Inter" pitchFamily="34" charset="-120"/>
              </a:rPr>
              <a:t>Databook:</a:t>
            </a:r>
            <a:r>
              <a:rPr lang="en-US" sz="1200" dirty="0">
                <a:solidFill>
                  <a:srgbClr val="2E3A9E"/>
                </a:solidFill>
                <a:latin typeface="Inter" pitchFamily="34" charset="0"/>
                <a:ea typeface="Inter" pitchFamily="34" charset="-122"/>
                <a:cs typeface="Inter" pitchFamily="34" charset="-120"/>
              </a:rPr>
              <a:t> signals show why an account is on the list</a:t>
            </a:r>
            <a:endParaRPr lang="en-US" sz="1200" dirty="0"/>
          </a:p>
        </p:txBody>
      </p:sp>
      <p:sp>
        <p:nvSpPr>
          <p:cNvPr id="31" name="Shape 29"/>
          <p:cNvSpPr/>
          <p:nvPr/>
        </p:nvSpPr>
        <p:spPr>
          <a:xfrm>
            <a:off x="5093345" y="1884015"/>
            <a:ext cx="2005310" cy="3359100"/>
          </a:xfrm>
          <a:prstGeom prst="roundRect">
            <a:avLst>
              <a:gd name="adj" fmla="val 6175"/>
            </a:avLst>
          </a:prstGeom>
          <a:solidFill>
            <a:srgbClr val="FFFFFF"/>
          </a:solidFill>
          <a:ln w="6350">
            <a:solidFill>
              <a:srgbClr val="E3E0DE"/>
            </a:solidFill>
            <a:prstDash val="solid"/>
          </a:ln>
        </p:spPr>
      </p:sp>
      <p:sp>
        <p:nvSpPr>
          <p:cNvPr id="32" name="Shape 30"/>
          <p:cNvSpPr/>
          <p:nvPr/>
        </p:nvSpPr>
        <p:spPr>
          <a:xfrm>
            <a:off x="5096520" y="1887190"/>
            <a:ext cx="1998960" cy="76200"/>
          </a:xfrm>
          <a:custGeom>
            <a:avLst/>
            <a:gdLst/>
            <a:ahLst/>
            <a:cxnLst/>
            <a:rect l="l" t="t" r="r" b="b"/>
            <a:pathLst>
              <a:path w="1998960" h="76200">
                <a:moveTo>
                  <a:pt x="8487" y="76200"/>
                </a:moveTo>
                <a:arcTo hR="120650" wR="120650" stAng="12097096" swAng="4102904"/>
                <a:lnTo>
                  <a:pt x="1878310" y="0"/>
                </a:lnTo>
                <a:arcTo hR="120650" wR="120650" stAng="16200000" swAng="4102904"/>
                <a:close/>
              </a:path>
            </a:pathLst>
          </a:custGeom>
          <a:solidFill>
            <a:srgbClr val="804979"/>
          </a:solidFill>
          <a:ln/>
        </p:spPr>
      </p:sp>
      <p:sp>
        <p:nvSpPr>
          <p:cNvPr id="33" name="Text 31"/>
          <p:cNvSpPr/>
          <p:nvPr/>
        </p:nvSpPr>
        <p:spPr>
          <a:xfrm>
            <a:off x="5223520" y="2090390"/>
            <a:ext cx="1797309" cy="360660"/>
          </a:xfrm>
          <a:prstGeom prst="rect">
            <a:avLst/>
          </a:prstGeom>
          <a:noFill/>
          <a:ln/>
        </p:spPr>
        <p:txBody>
          <a:bodyPr wrap="square" lIns="0" tIns="0" rIns="0" bIns="0" rtlCol="0" anchor="t">
            <a:normAutofit/>
          </a:bodyPr>
          <a:lstStyle/>
          <a:p>
            <a:pPr algn="l" indent="0" marL="0">
              <a:lnSpc>
                <a:spcPts val="2640"/>
              </a:lnSpc>
              <a:buNone/>
            </a:pPr>
            <a:r>
              <a:rPr lang="en-US" sz="2200" b="1" spc="-50" kern="0" dirty="0">
                <a:solidFill>
                  <a:srgbClr val="804979"/>
                </a:solidFill>
                <a:latin typeface="Inter" pitchFamily="34" charset="0"/>
                <a:ea typeface="Inter" pitchFamily="34" charset="-122"/>
                <a:cs typeface="Inter" pitchFamily="34" charset="-120"/>
              </a:rPr>
              <a:t>3 · Decide</a:t>
            </a:r>
            <a:endParaRPr lang="en-US" sz="2200" dirty="0"/>
          </a:p>
        </p:txBody>
      </p:sp>
      <p:sp>
        <p:nvSpPr>
          <p:cNvPr id="34" name="Shape 32"/>
          <p:cNvSpPr/>
          <p:nvPr/>
        </p:nvSpPr>
        <p:spPr>
          <a:xfrm>
            <a:off x="5223520" y="2501850"/>
            <a:ext cx="1744960" cy="1397000"/>
          </a:xfrm>
          <a:prstGeom prst="roundRect">
            <a:avLst>
              <a:gd name="adj" fmla="val 6364"/>
            </a:avLst>
          </a:prstGeom>
          <a:solidFill>
            <a:srgbClr val="F1F0EE"/>
          </a:solidFill>
          <a:ln/>
        </p:spPr>
      </p:sp>
      <p:sp>
        <p:nvSpPr>
          <p:cNvPr id="35" name="Text 33"/>
          <p:cNvSpPr/>
          <p:nvPr/>
        </p:nvSpPr>
        <p:spPr>
          <a:xfrm>
            <a:off x="5325120" y="2603450"/>
            <a:ext cx="1592560" cy="379809"/>
          </a:xfrm>
          <a:prstGeom prst="rect">
            <a:avLst/>
          </a:prstGeom>
          <a:noFill/>
          <a:ln/>
        </p:spPr>
        <p:txBody>
          <a:bodyPr wrap="square" lIns="0" tIns="0" rIns="0" bIns="0" rtlCol="0" anchor="t">
            <a:normAutofit/>
          </a:bodyPr>
          <a:lstStyle/>
          <a:p>
            <a:pPr algn="l" indent="0" marL="0">
              <a:lnSpc>
                <a:spcPts val="1409"/>
              </a:lnSpc>
              <a:buNone/>
            </a:pPr>
            <a:r>
              <a:rPr lang="en-US" sz="1084" b="1" dirty="0">
                <a:solidFill>
                  <a:srgbClr val="0B0B12"/>
                </a:solidFill>
                <a:latin typeface="Inter" pitchFamily="34" charset="0"/>
                <a:ea typeface="Inter" pitchFamily="34" charset="-122"/>
                <a:cs typeface="Inter" pitchFamily="34" charset="-120"/>
              </a:rPr>
              <a:t>Reframe the Contact Center play</a:t>
            </a:r>
            <a:endParaRPr lang="en-US" sz="1084" dirty="0"/>
          </a:p>
        </p:txBody>
      </p:sp>
      <p:sp>
        <p:nvSpPr>
          <p:cNvPr id="36" name="Shape 34"/>
          <p:cNvSpPr/>
          <p:nvPr/>
        </p:nvSpPr>
        <p:spPr>
          <a:xfrm>
            <a:off x="5325120" y="3059460"/>
            <a:ext cx="786805" cy="281781"/>
          </a:xfrm>
          <a:prstGeom prst="roundRect">
            <a:avLst>
              <a:gd name="adj" fmla="val 50000"/>
            </a:avLst>
          </a:prstGeom>
          <a:solidFill>
            <a:srgbClr val="4558D2"/>
          </a:solidFill>
          <a:ln/>
        </p:spPr>
      </p:sp>
      <p:sp>
        <p:nvSpPr>
          <p:cNvPr id="37" name="Text 35"/>
          <p:cNvSpPr/>
          <p:nvPr/>
        </p:nvSpPr>
        <p:spPr>
          <a:xfrm>
            <a:off x="5401320" y="3110260"/>
            <a:ext cx="685205" cy="205581"/>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AFAF8"/>
                </a:solidFill>
                <a:latin typeface="Inter" pitchFamily="34" charset="0"/>
                <a:ea typeface="Inter" pitchFamily="34" charset="-122"/>
                <a:cs typeface="Inter" pitchFamily="34" charset="-120"/>
              </a:rPr>
              <a:t>Approve</a:t>
            </a:r>
            <a:endParaRPr lang="en-US" sz="1200" dirty="0"/>
          </a:p>
        </p:txBody>
      </p:sp>
      <p:sp>
        <p:nvSpPr>
          <p:cNvPr id="38" name="Shape 36"/>
          <p:cNvSpPr/>
          <p:nvPr/>
        </p:nvSpPr>
        <p:spPr>
          <a:xfrm>
            <a:off x="6169075" y="3065810"/>
            <a:ext cx="550813" cy="269081"/>
          </a:xfrm>
          <a:prstGeom prst="roundRect">
            <a:avLst>
              <a:gd name="adj" fmla="val 50000"/>
            </a:avLst>
          </a:prstGeom>
          <a:noFill/>
          <a:ln w="12700">
            <a:solidFill>
              <a:srgbClr val="B9B7C2"/>
            </a:solidFill>
            <a:prstDash val="solid"/>
          </a:ln>
        </p:spPr>
      </p:sp>
      <p:sp>
        <p:nvSpPr>
          <p:cNvPr id="39" name="Text 37"/>
          <p:cNvSpPr/>
          <p:nvPr/>
        </p:nvSpPr>
        <p:spPr>
          <a:xfrm>
            <a:off x="6238925" y="3110260"/>
            <a:ext cx="461913" cy="205581"/>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4A4852"/>
                </a:solidFill>
                <a:latin typeface="Inter" pitchFamily="34" charset="0"/>
                <a:ea typeface="Inter" pitchFamily="34" charset="-122"/>
                <a:cs typeface="Inter" pitchFamily="34" charset="-120"/>
              </a:rPr>
              <a:t>Defer</a:t>
            </a:r>
            <a:endParaRPr lang="en-US" sz="1200" dirty="0"/>
          </a:p>
        </p:txBody>
      </p:sp>
      <p:sp>
        <p:nvSpPr>
          <p:cNvPr id="40" name="Text 38"/>
          <p:cNvSpPr/>
          <p:nvPr/>
        </p:nvSpPr>
        <p:spPr>
          <a:xfrm>
            <a:off x="5325120" y="3442841"/>
            <a:ext cx="1643360" cy="379809"/>
          </a:xfrm>
          <a:prstGeom prst="rect">
            <a:avLst/>
          </a:prstGeom>
          <a:noFill/>
          <a:ln/>
        </p:spPr>
        <p:txBody>
          <a:bodyPr wrap="square" lIns="0" tIns="0" rIns="0" bIns="0" rtlCol="0" anchor="t">
            <a:normAutofit/>
          </a:bodyPr>
          <a:lstStyle/>
          <a:p>
            <a:pPr algn="l" indent="0" marL="0">
              <a:lnSpc>
                <a:spcPts val="1516"/>
              </a:lnSpc>
              <a:buNone/>
            </a:pPr>
            <a:r>
              <a:rPr lang="en-US" sz="1166" dirty="0">
                <a:solidFill>
                  <a:srgbClr val="4A4852"/>
                </a:solidFill>
                <a:latin typeface="Inter" pitchFamily="34" charset="0"/>
                <a:ea typeface="Inter" pitchFamily="34" charset="-122"/>
                <a:cs typeface="Inter" pitchFamily="34" charset="-120"/>
              </a:rPr>
              <a:t>Owner, date, +$2.0M estimate</a:t>
            </a:r>
            <a:endParaRPr lang="en-US" sz="1166" dirty="0"/>
          </a:p>
        </p:txBody>
      </p:sp>
      <p:sp>
        <p:nvSpPr>
          <p:cNvPr id="41" name="Text 39"/>
          <p:cNvSpPr/>
          <p:nvPr/>
        </p:nvSpPr>
        <p:spPr>
          <a:xfrm>
            <a:off x="5223520" y="3975050"/>
            <a:ext cx="1797309"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B12"/>
                </a:solidFill>
                <a:latin typeface="Inter" pitchFamily="34" charset="0"/>
                <a:ea typeface="Inter" pitchFamily="34" charset="-122"/>
                <a:cs typeface="Inter" pitchFamily="34" charset="-120"/>
              </a:rPr>
              <a:t>What do we authorize?</a:t>
            </a:r>
            <a:endParaRPr lang="en-US" sz="1400" dirty="0"/>
          </a:p>
        </p:txBody>
      </p:sp>
      <p:sp>
        <p:nvSpPr>
          <p:cNvPr id="42" name="Text 40"/>
          <p:cNvSpPr/>
          <p:nvPr/>
        </p:nvSpPr>
        <p:spPr>
          <a:xfrm>
            <a:off x="5223520" y="4495750"/>
            <a:ext cx="1797309" cy="64259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E3A9E"/>
                </a:solidFill>
                <a:latin typeface="Inter" pitchFamily="34" charset="0"/>
                <a:ea typeface="Inter" pitchFamily="34" charset="-122"/>
                <a:cs typeface="Inter" pitchFamily="34" charset="-120"/>
              </a:rPr>
              <a:t>Databook:</a:t>
            </a:r>
            <a:r>
              <a:rPr lang="en-US" sz="1200" dirty="0">
                <a:solidFill>
                  <a:srgbClr val="2E3A9E"/>
                </a:solidFill>
                <a:latin typeface="Inter" pitchFamily="34" charset="0"/>
                <a:ea typeface="Inter" pitchFamily="34" charset="-122"/>
                <a:cs typeface="Inter" pitchFamily="34" charset="-120"/>
              </a:rPr>
              <a:t> the CRO approves plays before sellers see them</a:t>
            </a:r>
            <a:endParaRPr lang="en-US" sz="1200" dirty="0"/>
          </a:p>
        </p:txBody>
      </p:sp>
      <p:sp>
        <p:nvSpPr>
          <p:cNvPr id="43" name="Shape 41"/>
          <p:cNvSpPr/>
          <p:nvPr/>
        </p:nvSpPr>
        <p:spPr>
          <a:xfrm>
            <a:off x="7232005" y="1884015"/>
            <a:ext cx="2005360" cy="3359100"/>
          </a:xfrm>
          <a:prstGeom prst="roundRect">
            <a:avLst>
              <a:gd name="adj" fmla="val 6175"/>
            </a:avLst>
          </a:prstGeom>
          <a:solidFill>
            <a:srgbClr val="FFFFFF"/>
          </a:solidFill>
          <a:ln w="6350">
            <a:solidFill>
              <a:srgbClr val="E3E0DE"/>
            </a:solidFill>
            <a:prstDash val="solid"/>
          </a:ln>
        </p:spPr>
      </p:sp>
      <p:sp>
        <p:nvSpPr>
          <p:cNvPr id="44" name="Shape 42"/>
          <p:cNvSpPr/>
          <p:nvPr/>
        </p:nvSpPr>
        <p:spPr>
          <a:xfrm>
            <a:off x="7235180" y="1887190"/>
            <a:ext cx="1999010" cy="76200"/>
          </a:xfrm>
          <a:custGeom>
            <a:avLst/>
            <a:gdLst/>
            <a:ahLst/>
            <a:cxnLst/>
            <a:rect l="l" t="t" r="r" b="b"/>
            <a:pathLst>
              <a:path w="1999010" h="76200">
                <a:moveTo>
                  <a:pt x="8487" y="76200"/>
                </a:moveTo>
                <a:arcTo hR="120650" wR="120650" stAng="12097096" swAng="4102904"/>
                <a:lnTo>
                  <a:pt x="1878360" y="0"/>
                </a:lnTo>
                <a:arcTo hR="120650" wR="120650" stAng="16200000" swAng="4102904"/>
                <a:close/>
              </a:path>
            </a:pathLst>
          </a:custGeom>
          <a:solidFill>
            <a:srgbClr val="6250A6"/>
          </a:solidFill>
          <a:ln/>
        </p:spPr>
      </p:sp>
      <p:sp>
        <p:nvSpPr>
          <p:cNvPr id="45" name="Text 43"/>
          <p:cNvSpPr/>
          <p:nvPr/>
        </p:nvSpPr>
        <p:spPr>
          <a:xfrm>
            <a:off x="7362180" y="2090390"/>
            <a:ext cx="1797360" cy="360660"/>
          </a:xfrm>
          <a:prstGeom prst="rect">
            <a:avLst/>
          </a:prstGeom>
          <a:noFill/>
          <a:ln/>
        </p:spPr>
        <p:txBody>
          <a:bodyPr wrap="square" lIns="0" tIns="0" rIns="0" bIns="0" rtlCol="0" anchor="t">
            <a:normAutofit/>
          </a:bodyPr>
          <a:lstStyle/>
          <a:p>
            <a:pPr algn="l" indent="0" marL="0">
              <a:lnSpc>
                <a:spcPts val="2640"/>
              </a:lnSpc>
              <a:buNone/>
            </a:pPr>
            <a:r>
              <a:rPr lang="en-US" sz="2200" b="1" spc="-50" kern="0" dirty="0">
                <a:solidFill>
                  <a:srgbClr val="6250A6"/>
                </a:solidFill>
                <a:latin typeface="Inter" pitchFamily="34" charset="0"/>
                <a:ea typeface="Inter" pitchFamily="34" charset="-122"/>
                <a:cs typeface="Inter" pitchFamily="34" charset="-120"/>
              </a:rPr>
              <a:t>4 · Guide</a:t>
            </a:r>
            <a:endParaRPr lang="en-US" sz="2200" dirty="0"/>
          </a:p>
        </p:txBody>
      </p:sp>
      <p:sp>
        <p:nvSpPr>
          <p:cNvPr id="46" name="Shape 44"/>
          <p:cNvSpPr/>
          <p:nvPr/>
        </p:nvSpPr>
        <p:spPr>
          <a:xfrm>
            <a:off x="7362180" y="2501850"/>
            <a:ext cx="1745010" cy="1397000"/>
          </a:xfrm>
          <a:prstGeom prst="roundRect">
            <a:avLst>
              <a:gd name="adj" fmla="val 6364"/>
            </a:avLst>
          </a:prstGeom>
          <a:solidFill>
            <a:srgbClr val="F1F0EE"/>
          </a:solidFill>
          <a:ln/>
        </p:spPr>
      </p:sp>
      <p:sp>
        <p:nvSpPr>
          <p:cNvPr id="47" name="Text 45"/>
          <p:cNvSpPr/>
          <p:nvPr/>
        </p:nvSpPr>
        <p:spPr>
          <a:xfrm>
            <a:off x="7463780" y="2688580"/>
            <a:ext cx="15926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4852"/>
                </a:solidFill>
                <a:latin typeface="Inter" pitchFamily="34" charset="0"/>
                <a:ea typeface="Inter" pitchFamily="34" charset="-122"/>
                <a:cs typeface="Inter" pitchFamily="34" charset="-120"/>
              </a:rPr>
              <a:t>#acct-northwind</a:t>
            </a:r>
            <a:endParaRPr lang="en-US" sz="1200" dirty="0"/>
          </a:p>
        </p:txBody>
      </p:sp>
      <p:sp>
        <p:nvSpPr>
          <p:cNvPr id="48" name="Text 46"/>
          <p:cNvSpPr/>
          <p:nvPr/>
        </p:nvSpPr>
        <p:spPr>
          <a:xfrm>
            <a:off x="7463780" y="2965400"/>
            <a:ext cx="1541810" cy="746671"/>
          </a:xfrm>
          <a:prstGeom prst="roundRect">
            <a:avLst>
              <a:gd name="adj" fmla="val 8504"/>
            </a:avLst>
          </a:prstGeom>
          <a:solidFill>
            <a:srgbClr val="FFFFFF"/>
          </a:solidFill>
          <a:ln/>
        </p:spPr>
        <p:txBody>
          <a:bodyPr wrap="square" lIns="70301" tIns="57601" rIns="19501" bIns="32201" rtlCol="0" anchor="t">
            <a:normAutofit/>
          </a:bodyPr>
          <a:lstStyle/>
          <a:p>
            <a:pPr algn="l" indent="0" marL="0">
              <a:lnSpc>
                <a:spcPts val="1560"/>
              </a:lnSpc>
              <a:buNone/>
            </a:pPr>
            <a:r>
              <a:rPr lang="en-US" sz="1200" dirty="0">
                <a:solidFill>
                  <a:srgbClr val="0B0B12"/>
                </a:solidFill>
                <a:latin typeface="Inter" pitchFamily="34" charset="0"/>
                <a:ea typeface="Inter" pitchFamily="34" charset="-122"/>
                <a:cs typeface="Inter" pitchFamily="34" charset="-120"/>
              </a:rPr>
              <a:t>Step 1 of 4: pull the customer’s stated Q3 mandate</a:t>
            </a:r>
            <a:endParaRPr lang="en-US" sz="1200" dirty="0"/>
          </a:p>
        </p:txBody>
      </p:sp>
      <p:sp>
        <p:nvSpPr>
          <p:cNvPr id="49" name="Text 47"/>
          <p:cNvSpPr/>
          <p:nvPr/>
        </p:nvSpPr>
        <p:spPr>
          <a:xfrm>
            <a:off x="7362180" y="3975050"/>
            <a:ext cx="179736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B12"/>
                </a:solidFill>
                <a:latin typeface="Inter" pitchFamily="34" charset="0"/>
                <a:ea typeface="Inter" pitchFamily="34" charset="-122"/>
                <a:cs typeface="Inter" pitchFamily="34" charset="-120"/>
              </a:rPr>
              <a:t>How is the seller equipped?</a:t>
            </a:r>
            <a:endParaRPr lang="en-US" sz="1400" dirty="0"/>
          </a:p>
        </p:txBody>
      </p:sp>
      <p:sp>
        <p:nvSpPr>
          <p:cNvPr id="50" name="Text 48"/>
          <p:cNvSpPr/>
          <p:nvPr/>
        </p:nvSpPr>
        <p:spPr>
          <a:xfrm>
            <a:off x="7362180" y="4495750"/>
            <a:ext cx="1797360" cy="64259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E3A9E"/>
                </a:solidFill>
                <a:latin typeface="Inter" pitchFamily="34" charset="0"/>
                <a:ea typeface="Inter" pitchFamily="34" charset="-122"/>
                <a:cs typeface="Inter" pitchFamily="34" charset="-120"/>
              </a:rPr>
              <a:t>Databook:</a:t>
            </a:r>
            <a:r>
              <a:rPr lang="en-US" sz="1200" dirty="0">
                <a:solidFill>
                  <a:srgbClr val="2E3A9E"/>
                </a:solidFill>
                <a:latin typeface="Inter" pitchFamily="34" charset="0"/>
                <a:ea typeface="Inter" pitchFamily="34" charset="-122"/>
                <a:cs typeface="Inter" pitchFamily="34" charset="-120"/>
              </a:rPr>
              <a:t> coaching lands in Slack and Salesforce</a:t>
            </a:r>
            <a:endParaRPr lang="en-US" sz="1200" dirty="0"/>
          </a:p>
        </p:txBody>
      </p:sp>
      <p:sp>
        <p:nvSpPr>
          <p:cNvPr id="51" name="Shape 49"/>
          <p:cNvSpPr/>
          <p:nvPr/>
        </p:nvSpPr>
        <p:spPr>
          <a:xfrm>
            <a:off x="9370715" y="1884015"/>
            <a:ext cx="2005310" cy="3359100"/>
          </a:xfrm>
          <a:prstGeom prst="roundRect">
            <a:avLst>
              <a:gd name="adj" fmla="val 6175"/>
            </a:avLst>
          </a:prstGeom>
          <a:solidFill>
            <a:srgbClr val="FFFFFF"/>
          </a:solidFill>
          <a:ln w="6350">
            <a:solidFill>
              <a:srgbClr val="E3E0DE"/>
            </a:solidFill>
            <a:prstDash val="solid"/>
          </a:ln>
        </p:spPr>
      </p:sp>
      <p:sp>
        <p:nvSpPr>
          <p:cNvPr id="52" name="Shape 50"/>
          <p:cNvSpPr/>
          <p:nvPr/>
        </p:nvSpPr>
        <p:spPr>
          <a:xfrm>
            <a:off x="9373890" y="1887190"/>
            <a:ext cx="1998960" cy="76200"/>
          </a:xfrm>
          <a:custGeom>
            <a:avLst/>
            <a:gdLst/>
            <a:ahLst/>
            <a:cxnLst/>
            <a:rect l="l" t="t" r="r" b="b"/>
            <a:pathLst>
              <a:path w="1998960" h="76200">
                <a:moveTo>
                  <a:pt x="8487" y="76200"/>
                </a:moveTo>
                <a:arcTo hR="120650" wR="120650" stAng="12097096" swAng="4102904"/>
                <a:lnTo>
                  <a:pt x="1878310" y="0"/>
                </a:lnTo>
                <a:arcTo hR="120650" wR="120650" stAng="16200000" swAng="4102904"/>
                <a:close/>
              </a:path>
            </a:pathLst>
          </a:custGeom>
          <a:solidFill>
            <a:srgbClr val="4558D2"/>
          </a:solidFill>
          <a:ln/>
        </p:spPr>
      </p:sp>
      <p:sp>
        <p:nvSpPr>
          <p:cNvPr id="53" name="Text 51"/>
          <p:cNvSpPr/>
          <p:nvPr/>
        </p:nvSpPr>
        <p:spPr>
          <a:xfrm>
            <a:off x="9500890" y="2090390"/>
            <a:ext cx="1797309" cy="360660"/>
          </a:xfrm>
          <a:prstGeom prst="rect">
            <a:avLst/>
          </a:prstGeom>
          <a:noFill/>
          <a:ln/>
        </p:spPr>
        <p:txBody>
          <a:bodyPr wrap="square" lIns="0" tIns="0" rIns="0" bIns="0" rtlCol="0" anchor="t">
            <a:normAutofit/>
          </a:bodyPr>
          <a:lstStyle/>
          <a:p>
            <a:pPr algn="l" indent="0" marL="0">
              <a:lnSpc>
                <a:spcPts val="2640"/>
              </a:lnSpc>
              <a:buNone/>
            </a:pPr>
            <a:r>
              <a:rPr lang="en-US" sz="2200" b="1" spc="-50" kern="0" dirty="0">
                <a:solidFill>
                  <a:srgbClr val="4558D2"/>
                </a:solidFill>
                <a:latin typeface="Inter" pitchFamily="34" charset="0"/>
                <a:ea typeface="Inter" pitchFamily="34" charset="-122"/>
                <a:cs typeface="Inter" pitchFamily="34" charset="-120"/>
              </a:rPr>
              <a:t>5 · Prove</a:t>
            </a:r>
            <a:endParaRPr lang="en-US" sz="2200" dirty="0"/>
          </a:p>
        </p:txBody>
      </p:sp>
      <p:sp>
        <p:nvSpPr>
          <p:cNvPr id="54" name="Shape 52"/>
          <p:cNvSpPr/>
          <p:nvPr/>
        </p:nvSpPr>
        <p:spPr>
          <a:xfrm>
            <a:off x="9500890" y="2501850"/>
            <a:ext cx="1744960" cy="1397000"/>
          </a:xfrm>
          <a:prstGeom prst="roundRect">
            <a:avLst>
              <a:gd name="adj" fmla="val 6364"/>
            </a:avLst>
          </a:prstGeom>
          <a:solidFill>
            <a:srgbClr val="F1F0EE"/>
          </a:solidFill>
          <a:ln/>
        </p:spPr>
      </p:sp>
      <p:sp>
        <p:nvSpPr>
          <p:cNvPr id="55" name="Shape 53"/>
          <p:cNvSpPr/>
          <p:nvPr/>
        </p:nvSpPr>
        <p:spPr>
          <a:xfrm>
            <a:off x="9602490" y="2788890"/>
            <a:ext cx="277862" cy="139700"/>
          </a:xfrm>
          <a:prstGeom prst="roundRect">
            <a:avLst>
              <a:gd name="adj" fmla="val 27273"/>
            </a:avLst>
          </a:prstGeom>
          <a:solidFill>
            <a:srgbClr val="4558D2"/>
          </a:solidFill>
          <a:ln/>
        </p:spPr>
      </p:sp>
      <p:sp>
        <p:nvSpPr>
          <p:cNvPr id="56" name="Shape 54"/>
          <p:cNvSpPr/>
          <p:nvPr/>
        </p:nvSpPr>
        <p:spPr>
          <a:xfrm>
            <a:off x="9918452" y="2788890"/>
            <a:ext cx="277912" cy="139700"/>
          </a:xfrm>
          <a:prstGeom prst="roundRect">
            <a:avLst>
              <a:gd name="adj" fmla="val 27273"/>
            </a:avLst>
          </a:prstGeom>
          <a:solidFill>
            <a:srgbClr val="4558D2"/>
          </a:solidFill>
          <a:ln/>
        </p:spPr>
      </p:sp>
      <p:sp>
        <p:nvSpPr>
          <p:cNvPr id="57" name="Shape 55"/>
          <p:cNvSpPr/>
          <p:nvPr/>
        </p:nvSpPr>
        <p:spPr>
          <a:xfrm>
            <a:off x="10234464" y="2788890"/>
            <a:ext cx="277862" cy="139700"/>
          </a:xfrm>
          <a:prstGeom prst="roundRect">
            <a:avLst>
              <a:gd name="adj" fmla="val 27273"/>
            </a:avLst>
          </a:prstGeom>
          <a:solidFill>
            <a:srgbClr val="4558D2"/>
          </a:solidFill>
          <a:ln/>
        </p:spPr>
      </p:sp>
      <p:sp>
        <p:nvSpPr>
          <p:cNvPr id="58" name="Shape 56"/>
          <p:cNvSpPr/>
          <p:nvPr/>
        </p:nvSpPr>
        <p:spPr>
          <a:xfrm>
            <a:off x="10550426" y="2788890"/>
            <a:ext cx="277862" cy="139700"/>
          </a:xfrm>
          <a:prstGeom prst="roundRect">
            <a:avLst>
              <a:gd name="adj" fmla="val 27273"/>
            </a:avLst>
          </a:prstGeom>
          <a:solidFill>
            <a:srgbClr val="CDD3F5"/>
          </a:solidFill>
          <a:ln/>
        </p:spPr>
      </p:sp>
      <p:sp>
        <p:nvSpPr>
          <p:cNvPr id="59" name="Shape 57"/>
          <p:cNvSpPr/>
          <p:nvPr/>
        </p:nvSpPr>
        <p:spPr>
          <a:xfrm>
            <a:off x="10866388" y="2788890"/>
            <a:ext cx="277862" cy="139700"/>
          </a:xfrm>
          <a:prstGeom prst="roundRect">
            <a:avLst>
              <a:gd name="adj" fmla="val 27273"/>
            </a:avLst>
          </a:prstGeom>
          <a:solidFill>
            <a:srgbClr val="CDD3F5"/>
          </a:solidFill>
          <a:ln/>
        </p:spPr>
      </p:sp>
      <p:sp>
        <p:nvSpPr>
          <p:cNvPr id="60" name="Text 58"/>
          <p:cNvSpPr/>
          <p:nvPr/>
        </p:nvSpPr>
        <p:spPr>
          <a:xfrm>
            <a:off x="9602490" y="3017490"/>
            <a:ext cx="159256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852"/>
                </a:solidFill>
                <a:latin typeface="Inter" pitchFamily="34" charset="0"/>
                <a:ea typeface="Inter" pitchFamily="34" charset="-122"/>
                <a:cs typeface="Inter" pitchFamily="34" charset="-120"/>
              </a:rPr>
              <a:t>Authorized, started, completed, accepted, buyer step</a:t>
            </a:r>
            <a:endParaRPr lang="en-US" sz="1200" dirty="0"/>
          </a:p>
        </p:txBody>
      </p:sp>
      <p:sp>
        <p:nvSpPr>
          <p:cNvPr id="61" name="Text 59"/>
          <p:cNvSpPr/>
          <p:nvPr/>
        </p:nvSpPr>
        <p:spPr>
          <a:xfrm>
            <a:off x="9500890" y="3975050"/>
            <a:ext cx="1797309"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B0B12"/>
                </a:solidFill>
                <a:latin typeface="Inter" pitchFamily="34" charset="0"/>
                <a:ea typeface="Inter" pitchFamily="34" charset="-122"/>
                <a:cs typeface="Inter" pitchFamily="34" charset="-120"/>
              </a:rPr>
              <a:t>Did execution improve?</a:t>
            </a:r>
            <a:endParaRPr lang="en-US" sz="1400" dirty="0"/>
          </a:p>
        </p:txBody>
      </p:sp>
      <p:sp>
        <p:nvSpPr>
          <p:cNvPr id="62" name="Text 60"/>
          <p:cNvSpPr/>
          <p:nvPr/>
        </p:nvSpPr>
        <p:spPr>
          <a:xfrm>
            <a:off x="9500890" y="4495750"/>
            <a:ext cx="1797309" cy="64259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E3A9E"/>
                </a:solidFill>
                <a:latin typeface="Inter" pitchFamily="34" charset="0"/>
                <a:ea typeface="Inter" pitchFamily="34" charset="-122"/>
                <a:cs typeface="Inter" pitchFamily="34" charset="-120"/>
              </a:rPr>
              <a:t>Databook:</a:t>
            </a:r>
            <a:r>
              <a:rPr lang="en-US" sz="1200" dirty="0">
                <a:solidFill>
                  <a:srgbClr val="2E3A9E"/>
                </a:solidFill>
                <a:latin typeface="Inter" pitchFamily="34" charset="0"/>
                <a:ea typeface="Inter" pitchFamily="34" charset="-122"/>
                <a:cs typeface="Inter" pitchFamily="34" charset="-120"/>
              </a:rPr>
              <a:t> adoption first, then revenue as it lags in</a:t>
            </a:r>
            <a:endParaRPr lang="en-US" sz="1200" dirty="0"/>
          </a:p>
        </p:txBody>
      </p:sp>
      <p:sp>
        <p:nvSpPr>
          <p:cNvPr id="63" name="Text 6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B75"/>
                </a:solidFill>
                <a:latin typeface="Inter" pitchFamily="34" charset="0"/>
                <a:ea typeface="Inter" pitchFamily="34" charset="-122"/>
                <a:cs typeface="Inter" pitchFamily="34" charset="-120"/>
              </a:rPr>
              <a:t>Zoom CRO · GTM Decision System · Mock engagement and simulated data</a:t>
            </a:r>
            <a:endParaRPr lang="en-US" sz="1200" dirty="0"/>
          </a:p>
        </p:txBody>
      </p:sp>
      <p:sp>
        <p:nvSpPr>
          <p:cNvPr id="64" name="Text 6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B75"/>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8331D"/>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A8331D"/>
              </a:gs>
              <a:gs pos="45000">
                <a:srgbClr val="130F14"/>
              </a:gs>
              <a:gs pos="60000">
                <a:srgbClr val="131319"/>
              </a:gs>
              <a:gs pos="100000">
                <a:srgbClr val="4558D2"/>
              </a:gs>
            </a:gsLst>
            <a:lin ang="1200000" scaled="0"/>
          </a:gradFill>
          <a:ln/>
        </p:spPr>
      </p:sp>
      <p:sp>
        <p:nvSpPr>
          <p:cNvPr id="3" name="Text 1"/>
          <p:cNvSpPr/>
          <p:nvPr/>
        </p:nvSpPr>
        <p:spPr>
          <a:xfrm>
            <a:off x="812800" y="812800"/>
            <a:ext cx="10883392" cy="25097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79BF4"/>
                </a:solidFill>
                <a:latin typeface="Inter" pitchFamily="34" charset="0"/>
                <a:ea typeface="Inter" pitchFamily="34" charset="-122"/>
                <a:cs typeface="Inter" pitchFamily="34" charset="-120"/>
              </a:rPr>
              <a:t>WITHOUT DATABOOK, WITH DATABOOK</a:t>
            </a:r>
            <a:endParaRPr lang="en-US" sz="1300" dirty="0"/>
          </a:p>
        </p:txBody>
      </p:sp>
      <p:sp>
        <p:nvSpPr>
          <p:cNvPr id="4" name="Text 2"/>
          <p:cNvSpPr/>
          <p:nvPr>
            <p:ph type="title"/>
          </p:nvPr>
        </p:nvSpPr>
        <p:spPr>
          <a:xfrm>
            <a:off x="812800" y="1101874"/>
            <a:ext cx="10883392" cy="505817"/>
          </a:xfrm>
          <a:prstGeom prst="rect">
            <a:avLst/>
          </a:prstGeom>
          <a:noFill/>
          <a:ln/>
        </p:spPr>
        <p:txBody>
          <a:bodyPr wrap="square" lIns="0" tIns="0" rIns="0" bIns="0" rtlCol="0" anchor="t">
            <a:normAutofit/>
          </a:bodyPr>
          <a:lstStyle/>
          <a:p>
            <a:pPr algn="l" indent="0" marL="0">
              <a:lnSpc>
                <a:spcPts val="3815"/>
              </a:lnSpc>
              <a:buNone/>
            </a:pPr>
            <a:r>
              <a:rPr lang="en-US" sz="3741" b="1" i="0" spc="-150" kern="0" dirty="0">
                <a:solidFill>
                  <a:srgbClr val="FAFAF8"/>
                </a:solidFill>
                <a:latin typeface="Inter" pitchFamily="34" charset="0"/>
                <a:ea typeface="Inter" pitchFamily="34" charset="-122"/>
                <a:cs typeface="Inter" pitchFamily="34" charset="-120"/>
              </a:rPr>
              <a:t>Behaviors and systems move together</a:t>
            </a:r>
            <a:endParaRPr lang="en-US" sz="3741" dirty="0"/>
          </a:p>
        </p:txBody>
      </p:sp>
      <p:sp>
        <p:nvSpPr>
          <p:cNvPr id="5" name="Text 3"/>
          <p:cNvSpPr/>
          <p:nvPr/>
        </p:nvSpPr>
        <p:spPr>
          <a:xfrm>
            <a:off x="812800" y="1645791"/>
            <a:ext cx="10883392" cy="267146"/>
          </a:xfrm>
          <a:prstGeom prst="rect">
            <a:avLst/>
          </a:prstGeom>
          <a:noFill/>
          <a:ln/>
        </p:spPr>
        <p:txBody>
          <a:bodyPr wrap="square" lIns="0" tIns="0" rIns="0" bIns="0" rtlCol="0" anchor="t">
            <a:normAutofit/>
          </a:bodyPr>
          <a:lstStyle/>
          <a:p>
            <a:pPr algn="l" indent="0" marL="0">
              <a:lnSpc>
                <a:spcPts val="1920"/>
              </a:lnSpc>
              <a:buNone/>
            </a:pPr>
            <a:r>
              <a:rPr lang="en-US" sz="1477" b="1" dirty="0">
                <a:solidFill>
                  <a:srgbClr val="DE605E"/>
                </a:solidFill>
                <a:latin typeface="Inter" pitchFamily="34" charset="0"/>
                <a:ea typeface="Inter" pitchFamily="34" charset="-122"/>
                <a:cs typeface="Inter" pitchFamily="34" charset="-120"/>
              </a:rPr>
              <a:t>Behaviors:</a:t>
            </a:r>
            <a:r>
              <a:rPr lang="en-US" sz="1477" b="1" dirty="0">
                <a:solidFill>
                  <a:srgbClr val="E3E0E8"/>
                </a:solidFill>
                <a:latin typeface="Inter" pitchFamily="34" charset="0"/>
                <a:ea typeface="Inter" pitchFamily="34" charset="-122"/>
                <a:cs typeface="Inter" pitchFamily="34" charset="-120"/>
              </a:rPr>
              <a:t> change what sellers do. </a:t>
            </a:r>
            <a:r>
              <a:rPr lang="en-US" sz="1477" b="1" dirty="0">
                <a:solidFill>
                  <a:srgbClr val="879BF4"/>
                </a:solidFill>
                <a:latin typeface="Inter" pitchFamily="34" charset="0"/>
                <a:ea typeface="Inter" pitchFamily="34" charset="-122"/>
                <a:cs typeface="Inter" pitchFamily="34" charset="-120"/>
              </a:rPr>
              <a:t>Systems:</a:t>
            </a:r>
            <a:r>
              <a:rPr lang="en-US" sz="1477" b="1" dirty="0">
                <a:solidFill>
                  <a:srgbClr val="E3E0E8"/>
                </a:solidFill>
                <a:latin typeface="Inter" pitchFamily="34" charset="0"/>
                <a:ea typeface="Inter" pitchFamily="34" charset="-122"/>
                <a:cs typeface="Inter" pitchFamily="34" charset="-120"/>
              </a:rPr>
              <a:t> change what tools they use.</a:t>
            </a:r>
            <a:endParaRPr lang="en-US" sz="1477" dirty="0"/>
          </a:p>
        </p:txBody>
      </p:sp>
      <p:sp>
        <p:nvSpPr>
          <p:cNvPr id="6" name="Shape 4"/>
          <p:cNvSpPr/>
          <p:nvPr/>
        </p:nvSpPr>
        <p:spPr>
          <a:xfrm>
            <a:off x="819150" y="2046288"/>
            <a:ext cx="5181600" cy="1047601"/>
          </a:xfrm>
          <a:prstGeom prst="roundRect">
            <a:avLst>
              <a:gd name="adj" fmla="val 11517"/>
            </a:avLst>
          </a:prstGeom>
          <a:solidFill>
            <a:srgbClr val="FBE9E5"/>
          </a:solidFill>
          <a:ln w="12700">
            <a:solidFill>
              <a:srgbClr val="BC3A21"/>
            </a:solidFill>
            <a:prstDash val="solid"/>
          </a:ln>
        </p:spPr>
      </p:sp>
      <p:sp>
        <p:nvSpPr>
          <p:cNvPr id="7" name="Text 5"/>
          <p:cNvSpPr/>
          <p:nvPr/>
        </p:nvSpPr>
        <p:spPr>
          <a:xfrm>
            <a:off x="1003300" y="2192338"/>
            <a:ext cx="4957699" cy="231775"/>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A82813"/>
                </a:solidFill>
                <a:latin typeface="Inter" pitchFamily="34" charset="0"/>
                <a:ea typeface="Inter" pitchFamily="34" charset="-122"/>
                <a:cs typeface="Inter" pitchFamily="34" charset="-120"/>
              </a:rPr>
              <a:t>WITHOUT DATABOOK</a:t>
            </a:r>
            <a:endParaRPr lang="en-US" sz="1196" dirty="0"/>
          </a:p>
        </p:txBody>
      </p:sp>
      <p:sp>
        <p:nvSpPr>
          <p:cNvPr id="8" name="Text 6"/>
          <p:cNvSpPr/>
          <p:nvPr/>
        </p:nvSpPr>
        <p:spPr>
          <a:xfrm>
            <a:off x="1003300" y="2436813"/>
            <a:ext cx="4957699" cy="290711"/>
          </a:xfrm>
          <a:prstGeom prst="rect">
            <a:avLst/>
          </a:prstGeom>
          <a:noFill/>
          <a:ln/>
        </p:spPr>
        <p:txBody>
          <a:bodyPr wrap="square" lIns="0" tIns="0" rIns="0" bIns="0" rtlCol="0" anchor="t">
            <a:normAutofit/>
          </a:bodyPr>
          <a:lstStyle/>
          <a:p>
            <a:pPr algn="l" indent="0" marL="0">
              <a:lnSpc>
                <a:spcPts val="2119"/>
              </a:lnSpc>
              <a:buNone/>
            </a:pPr>
            <a:r>
              <a:rPr lang="en-US" sz="1766" b="1" spc="-50" kern="0" dirty="0">
                <a:solidFill>
                  <a:srgbClr val="0B0B12"/>
                </a:solidFill>
                <a:latin typeface="Inter" pitchFamily="34" charset="0"/>
                <a:ea typeface="Inter" pitchFamily="34" charset="-122"/>
                <a:cs typeface="Inter" pitchFamily="34" charset="-120"/>
              </a:rPr>
              <a:t>Hire 10 to 20 reps to add $10M</a:t>
            </a:r>
            <a:endParaRPr lang="en-US" sz="1766" dirty="0"/>
          </a:p>
        </p:txBody>
      </p:sp>
      <p:sp>
        <p:nvSpPr>
          <p:cNvPr id="9" name="Text 7"/>
          <p:cNvSpPr/>
          <p:nvPr/>
        </p:nvSpPr>
        <p:spPr>
          <a:xfrm>
            <a:off x="1003300" y="2740223"/>
            <a:ext cx="4957699" cy="233015"/>
          </a:xfrm>
          <a:prstGeom prst="rect">
            <a:avLst/>
          </a:prstGeom>
          <a:noFill/>
          <a:ln/>
        </p:spPr>
        <p:txBody>
          <a:bodyPr wrap="square" lIns="0" tIns="0" rIns="0" bIns="0" rtlCol="0" anchor="t">
            <a:normAutofit/>
          </a:bodyPr>
          <a:lstStyle/>
          <a:p>
            <a:pPr algn="l" indent="0" marL="0">
              <a:lnSpc>
                <a:spcPts val="1674"/>
              </a:lnSpc>
              <a:buNone/>
            </a:pPr>
            <a:r>
              <a:rPr lang="en-US" sz="1288" dirty="0">
                <a:solidFill>
                  <a:srgbClr val="4A4852"/>
                </a:solidFill>
                <a:latin typeface="Inter" pitchFamily="34" charset="0"/>
                <a:ea typeface="Inter" pitchFamily="34" charset="-122"/>
                <a:cs typeface="Inter" pitchFamily="34" charset="-120"/>
              </a:rPr>
              <a:t>About $3M to $5M and six months of ramp</a:t>
            </a:r>
            <a:endParaRPr lang="en-US" sz="1288" dirty="0"/>
          </a:p>
        </p:txBody>
      </p:sp>
      <p:sp>
        <p:nvSpPr>
          <p:cNvPr id="10" name="Shape 8"/>
          <p:cNvSpPr/>
          <p:nvPr/>
        </p:nvSpPr>
        <p:spPr>
          <a:xfrm>
            <a:off x="6191250" y="2046288"/>
            <a:ext cx="5181600" cy="1047601"/>
          </a:xfrm>
          <a:prstGeom prst="roundRect">
            <a:avLst>
              <a:gd name="adj" fmla="val 11517"/>
            </a:avLst>
          </a:prstGeom>
          <a:solidFill>
            <a:srgbClr val="E8EBFC"/>
          </a:solidFill>
          <a:ln w="12700">
            <a:solidFill>
              <a:srgbClr val="4558D2"/>
            </a:solidFill>
            <a:prstDash val="solid"/>
          </a:ln>
        </p:spPr>
      </p:sp>
      <p:sp>
        <p:nvSpPr>
          <p:cNvPr id="11" name="Text 9"/>
          <p:cNvSpPr/>
          <p:nvPr/>
        </p:nvSpPr>
        <p:spPr>
          <a:xfrm>
            <a:off x="6375400" y="2192338"/>
            <a:ext cx="4957699" cy="231775"/>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2E3A9E"/>
                </a:solidFill>
                <a:latin typeface="Inter" pitchFamily="34" charset="0"/>
                <a:ea typeface="Inter" pitchFamily="34" charset="-122"/>
                <a:cs typeface="Inter" pitchFamily="34" charset="-120"/>
              </a:rPr>
              <a:t>WITH DATABOOK</a:t>
            </a:r>
            <a:endParaRPr lang="en-US" sz="1196" dirty="0"/>
          </a:p>
        </p:txBody>
      </p:sp>
      <p:sp>
        <p:nvSpPr>
          <p:cNvPr id="12" name="Text 10"/>
          <p:cNvSpPr/>
          <p:nvPr/>
        </p:nvSpPr>
        <p:spPr>
          <a:xfrm>
            <a:off x="6375400" y="2436813"/>
            <a:ext cx="4957699" cy="290711"/>
          </a:xfrm>
          <a:prstGeom prst="rect">
            <a:avLst/>
          </a:prstGeom>
          <a:noFill/>
          <a:ln/>
        </p:spPr>
        <p:txBody>
          <a:bodyPr wrap="square" lIns="0" tIns="0" rIns="0" bIns="0" rtlCol="0" anchor="t">
            <a:normAutofit/>
          </a:bodyPr>
          <a:lstStyle/>
          <a:p>
            <a:pPr algn="l" indent="0" marL="0">
              <a:lnSpc>
                <a:spcPts val="2119"/>
              </a:lnSpc>
              <a:buNone/>
            </a:pPr>
            <a:r>
              <a:rPr lang="en-US" sz="1766" b="1" spc="-50" kern="0" dirty="0">
                <a:solidFill>
                  <a:srgbClr val="0B0B12"/>
                </a:solidFill>
                <a:latin typeface="Inter" pitchFamily="34" charset="0"/>
                <a:ea typeface="Inter" pitchFamily="34" charset="-122"/>
                <a:cs typeface="Inter" pitchFamily="34" charset="-120"/>
              </a:rPr>
              <a:t>Equip the sellers already in seat</a:t>
            </a:r>
            <a:endParaRPr lang="en-US" sz="1766" dirty="0"/>
          </a:p>
        </p:txBody>
      </p:sp>
      <p:sp>
        <p:nvSpPr>
          <p:cNvPr id="13" name="Text 11"/>
          <p:cNvSpPr/>
          <p:nvPr/>
        </p:nvSpPr>
        <p:spPr>
          <a:xfrm>
            <a:off x="6375400" y="2740223"/>
            <a:ext cx="4957699" cy="233015"/>
          </a:xfrm>
          <a:prstGeom prst="rect">
            <a:avLst/>
          </a:prstGeom>
          <a:noFill/>
          <a:ln/>
        </p:spPr>
        <p:txBody>
          <a:bodyPr wrap="square" lIns="0" tIns="0" rIns="0" bIns="0" rtlCol="0" anchor="t">
            <a:normAutofit/>
          </a:bodyPr>
          <a:lstStyle/>
          <a:p>
            <a:pPr algn="l" indent="0" marL="0">
              <a:lnSpc>
                <a:spcPts val="1674"/>
              </a:lnSpc>
              <a:buNone/>
            </a:pPr>
            <a:r>
              <a:rPr lang="en-US" sz="1288" dirty="0">
                <a:solidFill>
                  <a:srgbClr val="4A4852"/>
                </a:solidFill>
                <a:latin typeface="Inter" pitchFamily="34" charset="0"/>
                <a:ea typeface="Inter" pitchFamily="34" charset="-122"/>
                <a:cs typeface="Inter" pitchFamily="34" charset="-120"/>
              </a:rPr>
              <a:t>Platform fee plus about 3% of revenue above target</a:t>
            </a:r>
            <a:endParaRPr lang="en-US" sz="1288" dirty="0"/>
          </a:p>
        </p:txBody>
      </p:sp>
      <p:sp>
        <p:nvSpPr>
          <p:cNvPr id="14" name="Shape 12"/>
          <p:cNvSpPr/>
          <p:nvPr/>
        </p:nvSpPr>
        <p:spPr>
          <a:xfrm>
            <a:off x="812800" y="3252639"/>
            <a:ext cx="10566400" cy="1666677"/>
          </a:xfrm>
          <a:prstGeom prst="roundRect">
            <a:avLst>
              <a:gd name="adj" fmla="val 6096"/>
            </a:avLst>
          </a:prstGeom>
          <a:solidFill>
            <a:srgbClr val="FAFAF8"/>
          </a:solidFill>
          <a:ln/>
        </p:spPr>
      </p:sp>
      <p:sp>
        <p:nvSpPr>
          <p:cNvPr id="15" name="Shape 13"/>
          <p:cNvSpPr/>
          <p:nvPr/>
        </p:nvSpPr>
        <p:spPr>
          <a:xfrm>
            <a:off x="812800" y="3252639"/>
            <a:ext cx="10566400" cy="1666677"/>
          </a:xfrm>
          <a:custGeom>
            <a:avLst/>
            <a:gdLst/>
            <a:ahLst/>
            <a:cxnLst/>
            <a:rect l="l" t="t" r="r" b="b"/>
            <a:pathLst>
              <a:path w="10566400" h="1666677">
                <a:moveTo>
                  <a:pt x="101600" y="1666677"/>
                </a:moveTo>
                <a:lnTo>
                  <a:pt x="101600" y="1666677"/>
                </a:lnTo>
                <a:arcTo hR="101600" wR="101600" stAng="5400000" swAng="5400000"/>
                <a:lnTo>
                  <a:pt x="0" y="101600"/>
                </a:lnTo>
                <a:arcTo hR="101600" wR="101600" stAng="10800000" swAng="5400000"/>
                <a:lnTo>
                  <a:pt x="101600" y="0"/>
                </a:lnTo>
                <a:arcTo hR="101600" wR="38100" stAng="16200000" swAng="-5400000"/>
                <a:lnTo>
                  <a:pt x="63500" y="1565077"/>
                </a:lnTo>
                <a:arcTo hR="101600" wR="38100" stAng="10800000" swAng="-5400000"/>
                <a:close/>
              </a:path>
            </a:pathLst>
          </a:custGeom>
          <a:solidFill>
            <a:srgbClr val="BC3A21"/>
          </a:solidFill>
          <a:ln/>
        </p:spPr>
      </p:sp>
      <p:sp>
        <p:nvSpPr>
          <p:cNvPr id="16" name="Text 14"/>
          <p:cNvSpPr/>
          <p:nvPr/>
        </p:nvSpPr>
        <p:spPr>
          <a:xfrm>
            <a:off x="1079500" y="3392339"/>
            <a:ext cx="10399395" cy="320477"/>
          </a:xfrm>
          <a:prstGeom prst="rect">
            <a:avLst/>
          </a:prstGeom>
          <a:noFill/>
          <a:ln/>
        </p:spPr>
        <p:txBody>
          <a:bodyPr wrap="square" lIns="0" tIns="0" rIns="0" bIns="0" rtlCol="0" anchor="t">
            <a:normAutofit/>
          </a:bodyPr>
          <a:lstStyle/>
          <a:p>
            <a:pPr algn="l" indent="0" marL="0">
              <a:lnSpc>
                <a:spcPts val="2321"/>
              </a:lnSpc>
              <a:buNone/>
            </a:pPr>
            <a:r>
              <a:rPr lang="en-US" sz="1658" b="1" spc="-50" kern="0" dirty="0">
                <a:solidFill>
                  <a:srgbClr val="0B0B12"/>
                </a:solidFill>
                <a:latin typeface="Inter" pitchFamily="34" charset="0"/>
                <a:ea typeface="Inter" pitchFamily="34" charset="-122"/>
                <a:cs typeface="Inter" pitchFamily="34" charset="-120"/>
              </a:rPr>
              <a:t>Implementation and adoption playbook</a:t>
            </a:r>
            <a:endParaRPr lang="en-US" sz="1658" dirty="0"/>
          </a:p>
        </p:txBody>
      </p:sp>
      <p:sp>
        <p:nvSpPr>
          <p:cNvPr id="17" name="Text 15"/>
          <p:cNvSpPr/>
          <p:nvPr/>
        </p:nvSpPr>
        <p:spPr>
          <a:xfrm>
            <a:off x="1079500" y="3763615"/>
            <a:ext cx="10399395" cy="444450"/>
          </a:xfrm>
          <a:prstGeom prst="rect">
            <a:avLst/>
          </a:prstGeom>
          <a:noFill/>
          <a:ln/>
        </p:spPr>
        <p:txBody>
          <a:bodyPr wrap="square" lIns="0" tIns="0" rIns="0" bIns="0" rtlCol="0" anchor="t">
            <a:normAutofit/>
          </a:bodyPr>
          <a:lstStyle/>
          <a:p>
            <a:pPr algn="l" indent="0" marL="0">
              <a:lnSpc>
                <a:spcPts val="1658"/>
              </a:lnSpc>
              <a:buNone/>
            </a:pPr>
            <a:r>
              <a:rPr lang="en-US" sz="1276" dirty="0">
                <a:solidFill>
                  <a:srgbClr val="4A4852"/>
                </a:solidFill>
                <a:latin typeface="Inter" pitchFamily="34" charset="0"/>
                <a:ea typeface="Inter" pitchFamily="34" charset="-122"/>
                <a:cs typeface="Inter" pitchFamily="34" charset="-120"/>
              </a:rPr>
              <a:t>Sellers are used to a certain selling motion. Databook’s deployment managers work with Zoom’s champions, because without behavior change there is no uplift.</a:t>
            </a:r>
            <a:endParaRPr lang="en-US" sz="1276" dirty="0"/>
          </a:p>
        </p:txBody>
      </p:sp>
      <p:sp>
        <p:nvSpPr>
          <p:cNvPr id="18" name="Shape 16"/>
          <p:cNvSpPr/>
          <p:nvPr/>
        </p:nvSpPr>
        <p:spPr>
          <a:xfrm>
            <a:off x="1079500" y="4258866"/>
            <a:ext cx="2457450" cy="520750"/>
          </a:xfrm>
          <a:prstGeom prst="roundRect">
            <a:avLst>
              <a:gd name="adj" fmla="val 14633"/>
            </a:avLst>
          </a:prstGeom>
          <a:solidFill>
            <a:srgbClr val="E8EBFC"/>
          </a:solidFill>
          <a:ln/>
        </p:spPr>
      </p:sp>
      <p:sp>
        <p:nvSpPr>
          <p:cNvPr id="19" name="Text 17"/>
          <p:cNvSpPr/>
          <p:nvPr/>
        </p:nvSpPr>
        <p:spPr>
          <a:xfrm>
            <a:off x="1181100" y="4335066"/>
            <a:ext cx="2321877" cy="39375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2E3A9E"/>
                </a:solidFill>
                <a:latin typeface="Inter" pitchFamily="34" charset="0"/>
                <a:ea typeface="Inter" pitchFamily="34" charset="-122"/>
                <a:cs typeface="Inter" pitchFamily="34" charset="-120"/>
              </a:rPr>
              <a:t>1 · Align champions on the case for change</a:t>
            </a:r>
            <a:endParaRPr lang="en-US" sz="1200" dirty="0"/>
          </a:p>
        </p:txBody>
      </p:sp>
      <p:sp>
        <p:nvSpPr>
          <p:cNvPr id="20" name="Text 18"/>
          <p:cNvSpPr/>
          <p:nvPr/>
        </p:nvSpPr>
        <p:spPr>
          <a:xfrm>
            <a:off x="3625850" y="4258866"/>
            <a:ext cx="2457450" cy="520750"/>
          </a:xfrm>
          <a:prstGeom prst="roundRect">
            <a:avLst>
              <a:gd name="adj" fmla="val 14633"/>
            </a:avLst>
          </a:prstGeom>
          <a:solidFill>
            <a:srgbClr val="E8EBFC"/>
          </a:solidFill>
          <a:ln/>
        </p:spPr>
        <p:txBody>
          <a:bodyPr wrap="square" lIns="79282" tIns="53882" rIns="11654" bIns="28482" rtlCol="0" anchor="t">
            <a:normAutofit/>
          </a:bodyPr>
          <a:lstStyle/>
          <a:p>
            <a:pPr algn="l" indent="0" marL="0">
              <a:lnSpc>
                <a:spcPts val="1500"/>
              </a:lnSpc>
              <a:buNone/>
            </a:pPr>
            <a:r>
              <a:rPr lang="en-US" sz="1200" b="1" dirty="0">
                <a:solidFill>
                  <a:srgbClr val="2E3A9E"/>
                </a:solidFill>
                <a:latin typeface="Inter" pitchFamily="34" charset="0"/>
                <a:ea typeface="Inter" pitchFamily="34" charset="-122"/>
                <a:cs typeface="Inter" pitchFamily="34" charset="-120"/>
              </a:rPr>
              <a:t>2 · CRO leads by example</a:t>
            </a:r>
            <a:endParaRPr lang="en-US" sz="1200" dirty="0"/>
          </a:p>
        </p:txBody>
      </p:sp>
      <p:sp>
        <p:nvSpPr>
          <p:cNvPr id="21" name="Text 19"/>
          <p:cNvSpPr/>
          <p:nvPr/>
        </p:nvSpPr>
        <p:spPr>
          <a:xfrm>
            <a:off x="6172200" y="4258866"/>
            <a:ext cx="2457450" cy="520750"/>
          </a:xfrm>
          <a:prstGeom prst="roundRect">
            <a:avLst>
              <a:gd name="adj" fmla="val 14633"/>
            </a:avLst>
          </a:prstGeom>
          <a:solidFill>
            <a:srgbClr val="E8EBFC"/>
          </a:solidFill>
          <a:ln/>
        </p:spPr>
        <p:txBody>
          <a:bodyPr wrap="square" lIns="79282" tIns="53882" rIns="11654" bIns="28482" rtlCol="0" anchor="t">
            <a:normAutofit/>
          </a:bodyPr>
          <a:lstStyle/>
          <a:p>
            <a:pPr algn="l" indent="0" marL="0">
              <a:lnSpc>
                <a:spcPts val="1500"/>
              </a:lnSpc>
              <a:buNone/>
            </a:pPr>
            <a:r>
              <a:rPr lang="en-US" sz="1200" b="1" dirty="0">
                <a:solidFill>
                  <a:srgbClr val="2E3A9E"/>
                </a:solidFill>
                <a:latin typeface="Inter" pitchFamily="34" charset="0"/>
                <a:ea typeface="Inter" pitchFamily="34" charset="-122"/>
                <a:cs typeface="Inter" pitchFamily="34" charset="-120"/>
              </a:rPr>
              <a:t>3 · Enable sellers one to one</a:t>
            </a:r>
            <a:endParaRPr lang="en-US" sz="1200" dirty="0"/>
          </a:p>
        </p:txBody>
      </p:sp>
      <p:sp>
        <p:nvSpPr>
          <p:cNvPr id="22" name="Text 20"/>
          <p:cNvSpPr/>
          <p:nvPr/>
        </p:nvSpPr>
        <p:spPr>
          <a:xfrm>
            <a:off x="8718550" y="4258866"/>
            <a:ext cx="2457450" cy="520750"/>
          </a:xfrm>
          <a:prstGeom prst="roundRect">
            <a:avLst>
              <a:gd name="adj" fmla="val 14633"/>
            </a:avLst>
          </a:prstGeom>
          <a:solidFill>
            <a:srgbClr val="E8EBFC"/>
          </a:solidFill>
          <a:ln/>
        </p:spPr>
        <p:txBody>
          <a:bodyPr wrap="square" lIns="79282" tIns="53882" rIns="11654" bIns="28482" rtlCol="0" anchor="t">
            <a:normAutofit/>
          </a:bodyPr>
          <a:lstStyle/>
          <a:p>
            <a:pPr algn="l" indent="0" marL="0">
              <a:lnSpc>
                <a:spcPts val="1500"/>
              </a:lnSpc>
              <a:buNone/>
            </a:pPr>
            <a:r>
              <a:rPr lang="en-US" sz="1200" b="1" dirty="0">
                <a:solidFill>
                  <a:srgbClr val="2E3A9E"/>
                </a:solidFill>
                <a:latin typeface="Inter" pitchFamily="34" charset="0"/>
                <a:ea typeface="Inter" pitchFamily="34" charset="-122"/>
                <a:cs typeface="Inter" pitchFamily="34" charset="-120"/>
              </a:rPr>
              <a:t>4 · Align KPIs and incentives</a:t>
            </a:r>
            <a:endParaRPr lang="en-US" sz="1200" dirty="0"/>
          </a:p>
        </p:txBody>
      </p:sp>
      <p:sp>
        <p:nvSpPr>
          <p:cNvPr id="23" name="Shape 21"/>
          <p:cNvSpPr/>
          <p:nvPr/>
        </p:nvSpPr>
        <p:spPr>
          <a:xfrm>
            <a:off x="815975" y="5074890"/>
            <a:ext cx="10560050" cy="763935"/>
          </a:xfrm>
          <a:prstGeom prst="roundRect">
            <a:avLst>
              <a:gd name="adj" fmla="val 12884"/>
            </a:avLst>
          </a:prstGeom>
          <a:solidFill>
            <a:srgbClr val="0B0B12">
              <a:alpha val="78000"/>
            </a:srgbClr>
          </a:solidFill>
          <a:ln w="6350">
            <a:solidFill>
              <a:srgbClr val="3A3D5C"/>
            </a:solidFill>
            <a:prstDash val="solid"/>
          </a:ln>
        </p:spPr>
      </p:sp>
      <p:sp>
        <p:nvSpPr>
          <p:cNvPr id="24" name="Text 22"/>
          <p:cNvSpPr/>
          <p:nvPr/>
        </p:nvSpPr>
        <p:spPr>
          <a:xfrm>
            <a:off x="971550" y="5179665"/>
            <a:ext cx="10556367" cy="233660"/>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B9B7C2"/>
                </a:solidFill>
                <a:latin typeface="Inter" pitchFamily="34" charset="0"/>
                <a:ea typeface="Inter" pitchFamily="34" charset="-122"/>
                <a:cs typeface="Inter" pitchFamily="34" charset="-120"/>
              </a:rPr>
              <a:t>REPEATABLE AT LARGE ENTERPRISE SALES TEAMS. ZOOM IS NEXT.</a:t>
            </a:r>
            <a:endParaRPr lang="en-US" sz="1196" dirty="0"/>
          </a:p>
        </p:txBody>
      </p:sp>
      <p:sp>
        <p:nvSpPr>
          <p:cNvPr id="25" name="Text 23"/>
          <p:cNvSpPr/>
          <p:nvPr/>
        </p:nvSpPr>
        <p:spPr>
          <a:xfrm>
            <a:off x="977900" y="5457775"/>
            <a:ext cx="930077" cy="276820"/>
          </a:xfrm>
          <a:custGeom>
            <a:avLst/>
            <a:gdLst/>
            <a:ahLst/>
            <a:cxnLst/>
            <a:rect l="l" t="t" r="r" b="b"/>
            <a:pathLst>
              <a:path w="930077" h="276820">
                <a:moveTo>
                  <a:pt x="138410" y="0"/>
                </a:moveTo>
                <a:lnTo>
                  <a:pt x="791666" y="0"/>
                </a:lnTo>
                <a:arcTo hR="138410" wR="138410" stAng="16200000" swAng="5400000"/>
                <a:lnTo>
                  <a:pt x="930077" y="138410"/>
                </a:lnTo>
                <a:arcTo hR="138410" wR="138410" stAng="0" swAng="5400000"/>
                <a:lnTo>
                  <a:pt x="138410" y="276820"/>
                </a:lnTo>
                <a:arcTo hR="138410" wR="138410" stAng="5400000" swAng="5400000"/>
                <a:lnTo>
                  <a:pt x="0" y="138410"/>
                </a:lnTo>
                <a:arcTo hR="138410" wR="138410" stAng="10800000" swAng="5400000"/>
                <a:close/>
              </a:path>
            </a:pathLst>
          </a:custGeom>
          <a:noFill/>
          <a:ln w="12700">
            <a:solidFill>
              <a:srgbClr val="6E6B75"/>
            </a:solidFill>
            <a:prstDash val="solid"/>
          </a:ln>
        </p:spPr>
        <p:txBody>
          <a:bodyPr wrap="none" lIns="0" tIns="0" rIns="0" bIns="0" rtlCol="0" anchor="ctr">
            <a:normAutofit/>
          </a:bodyPr>
          <a:lstStyle/>
          <a:p>
            <a:pPr algn="ctr" indent="0" marL="0">
              <a:lnSpc>
                <a:spcPts val="1680"/>
              </a:lnSpc>
              <a:buNone/>
            </a:pPr>
            <a:r>
              <a:rPr lang="en-US" sz="1200" b="1" dirty="0">
                <a:solidFill>
                  <a:srgbClr val="B9B7C2"/>
                </a:solidFill>
                <a:latin typeface="Inter" pitchFamily="34" charset="0"/>
                <a:ea typeface="Inter" pitchFamily="34" charset="-122"/>
                <a:cs typeface="Inter" pitchFamily="34" charset="-120"/>
              </a:rPr>
              <a:t>Microsoft</a:t>
            </a:r>
            <a:endParaRPr lang="en-US" sz="1200" dirty="0"/>
          </a:p>
        </p:txBody>
      </p:sp>
      <p:sp>
        <p:nvSpPr>
          <p:cNvPr id="26" name="Text 24"/>
          <p:cNvSpPr/>
          <p:nvPr/>
        </p:nvSpPr>
        <p:spPr>
          <a:xfrm>
            <a:off x="1984177" y="5457775"/>
            <a:ext cx="1011337" cy="276820"/>
          </a:xfrm>
          <a:custGeom>
            <a:avLst/>
            <a:gdLst/>
            <a:ahLst/>
            <a:cxnLst/>
            <a:rect l="l" t="t" r="r" b="b"/>
            <a:pathLst>
              <a:path w="1011337" h="276820">
                <a:moveTo>
                  <a:pt x="138410" y="0"/>
                </a:moveTo>
                <a:lnTo>
                  <a:pt x="872927" y="0"/>
                </a:lnTo>
                <a:arcTo hR="138410" wR="138410" stAng="16200000" swAng="5400000"/>
                <a:lnTo>
                  <a:pt x="1011337" y="138410"/>
                </a:lnTo>
                <a:arcTo hR="138410" wR="138410" stAng="0" swAng="5400000"/>
                <a:lnTo>
                  <a:pt x="138410" y="276820"/>
                </a:lnTo>
                <a:arcTo hR="138410" wR="138410" stAng="5400000" swAng="5400000"/>
                <a:lnTo>
                  <a:pt x="0" y="138410"/>
                </a:lnTo>
                <a:arcTo hR="138410" wR="138410" stAng="10800000" swAng="5400000"/>
                <a:close/>
              </a:path>
            </a:pathLst>
          </a:custGeom>
          <a:noFill/>
          <a:ln w="12700">
            <a:solidFill>
              <a:srgbClr val="6E6B75"/>
            </a:solidFill>
            <a:prstDash val="solid"/>
          </a:ln>
        </p:spPr>
        <p:txBody>
          <a:bodyPr wrap="none" lIns="0" tIns="0" rIns="0" bIns="0" rtlCol="0" anchor="ctr">
            <a:normAutofit/>
          </a:bodyPr>
          <a:lstStyle/>
          <a:p>
            <a:pPr algn="ctr" indent="0" marL="0">
              <a:lnSpc>
                <a:spcPts val="1680"/>
              </a:lnSpc>
              <a:buNone/>
            </a:pPr>
            <a:r>
              <a:rPr lang="en-US" sz="1200" b="1" dirty="0">
                <a:solidFill>
                  <a:srgbClr val="B9B7C2"/>
                </a:solidFill>
                <a:latin typeface="Inter" pitchFamily="34" charset="0"/>
                <a:ea typeface="Inter" pitchFamily="34" charset="-122"/>
                <a:cs typeface="Inter" pitchFamily="34" charset="-120"/>
              </a:rPr>
              <a:t>Salesforce</a:t>
            </a:r>
            <a:endParaRPr lang="en-US" sz="1200" dirty="0"/>
          </a:p>
        </p:txBody>
      </p:sp>
      <p:sp>
        <p:nvSpPr>
          <p:cNvPr id="27" name="Text 25"/>
          <p:cNvSpPr/>
          <p:nvPr/>
        </p:nvSpPr>
        <p:spPr>
          <a:xfrm>
            <a:off x="3071713" y="5457775"/>
            <a:ext cx="1576189" cy="276820"/>
          </a:xfrm>
          <a:custGeom>
            <a:avLst/>
            <a:gdLst/>
            <a:ahLst/>
            <a:cxnLst/>
            <a:rect l="l" t="t" r="r" b="b"/>
            <a:pathLst>
              <a:path w="1576189" h="276820">
                <a:moveTo>
                  <a:pt x="138410" y="0"/>
                </a:moveTo>
                <a:lnTo>
                  <a:pt x="1437779" y="0"/>
                </a:lnTo>
                <a:arcTo hR="138410" wR="138410" stAng="16200000" swAng="5400000"/>
                <a:lnTo>
                  <a:pt x="1576189" y="138410"/>
                </a:lnTo>
                <a:arcTo hR="138410" wR="138410" stAng="0" swAng="5400000"/>
                <a:lnTo>
                  <a:pt x="138410" y="276820"/>
                </a:lnTo>
                <a:arcTo hR="138410" wR="138410" stAng="5400000" swAng="5400000"/>
                <a:lnTo>
                  <a:pt x="0" y="138410"/>
                </a:lnTo>
                <a:arcTo hR="138410" wR="138410" stAng="10800000" swAng="5400000"/>
                <a:close/>
              </a:path>
            </a:pathLst>
          </a:custGeom>
          <a:noFill/>
          <a:ln w="12700">
            <a:solidFill>
              <a:srgbClr val="6E6B75"/>
            </a:solidFill>
            <a:prstDash val="solid"/>
          </a:ln>
        </p:spPr>
        <p:txBody>
          <a:bodyPr wrap="none" lIns="0" tIns="0" rIns="0" bIns="0" rtlCol="0" anchor="ctr">
            <a:normAutofit/>
          </a:bodyPr>
          <a:lstStyle/>
          <a:p>
            <a:pPr algn="ctr" indent="0" marL="0">
              <a:lnSpc>
                <a:spcPts val="1680"/>
              </a:lnSpc>
              <a:buNone/>
            </a:pPr>
            <a:r>
              <a:rPr lang="en-US" sz="1200" b="1" dirty="0">
                <a:solidFill>
                  <a:srgbClr val="B9B7C2"/>
                </a:solidFill>
                <a:latin typeface="Inter" pitchFamily="34" charset="0"/>
                <a:ea typeface="Inter" pitchFamily="34" charset="-122"/>
                <a:cs typeface="Inter" pitchFamily="34" charset="-120"/>
              </a:rPr>
              <a:t>Schneider Electric</a:t>
            </a:r>
            <a:endParaRPr lang="en-US" sz="1200" dirty="0"/>
          </a:p>
        </p:txBody>
      </p:sp>
      <p:sp>
        <p:nvSpPr>
          <p:cNvPr id="28" name="Text 26"/>
          <p:cNvSpPr/>
          <p:nvPr/>
        </p:nvSpPr>
        <p:spPr>
          <a:xfrm>
            <a:off x="4724102" y="5457775"/>
            <a:ext cx="1325116" cy="276820"/>
          </a:xfrm>
          <a:custGeom>
            <a:avLst/>
            <a:gdLst/>
            <a:ahLst/>
            <a:cxnLst/>
            <a:rect l="l" t="t" r="r" b="b"/>
            <a:pathLst>
              <a:path w="1325116" h="276820">
                <a:moveTo>
                  <a:pt x="138410" y="0"/>
                </a:moveTo>
                <a:lnTo>
                  <a:pt x="1186706" y="0"/>
                </a:lnTo>
                <a:arcTo hR="138410" wR="138410" stAng="16200000" swAng="5400000"/>
                <a:lnTo>
                  <a:pt x="1325116" y="138410"/>
                </a:lnTo>
                <a:arcTo hR="138410" wR="138410" stAng="0" swAng="5400000"/>
                <a:lnTo>
                  <a:pt x="138410" y="276820"/>
                </a:lnTo>
                <a:arcTo hR="138410" wR="138410" stAng="5400000" swAng="5400000"/>
                <a:lnTo>
                  <a:pt x="0" y="138410"/>
                </a:lnTo>
                <a:arcTo hR="138410" wR="138410" stAng="10800000" swAng="5400000"/>
                <a:close/>
              </a:path>
            </a:pathLst>
          </a:custGeom>
          <a:noFill/>
          <a:ln w="12700">
            <a:solidFill>
              <a:srgbClr val="6E6B75"/>
            </a:solidFill>
            <a:prstDash val="solid"/>
          </a:ln>
        </p:spPr>
        <p:txBody>
          <a:bodyPr wrap="none" lIns="0" tIns="0" rIns="0" bIns="0" rtlCol="0" anchor="ctr">
            <a:normAutofit/>
          </a:bodyPr>
          <a:lstStyle/>
          <a:p>
            <a:pPr algn="ctr" indent="0" marL="0">
              <a:lnSpc>
                <a:spcPts val="1680"/>
              </a:lnSpc>
              <a:buNone/>
            </a:pPr>
            <a:r>
              <a:rPr lang="en-US" sz="1200" b="1" dirty="0">
                <a:solidFill>
                  <a:srgbClr val="B9B7C2"/>
                </a:solidFill>
                <a:latin typeface="Inter" pitchFamily="34" charset="0"/>
                <a:ea typeface="Inter" pitchFamily="34" charset="-122"/>
                <a:cs typeface="Inter" pitchFamily="34" charset="-120"/>
              </a:rPr>
              <a:t>Konica Minolta</a:t>
            </a:r>
            <a:endParaRPr lang="en-US" sz="1200" dirty="0"/>
          </a:p>
        </p:txBody>
      </p:sp>
      <p:sp>
        <p:nvSpPr>
          <p:cNvPr id="29" name="Text 27"/>
          <p:cNvSpPr/>
          <p:nvPr/>
        </p:nvSpPr>
        <p:spPr>
          <a:xfrm>
            <a:off x="6125418" y="5457775"/>
            <a:ext cx="1023045" cy="276820"/>
          </a:xfrm>
          <a:custGeom>
            <a:avLst/>
            <a:gdLst/>
            <a:ahLst/>
            <a:cxnLst/>
            <a:rect l="l" t="t" r="r" b="b"/>
            <a:pathLst>
              <a:path w="1023045" h="276820">
                <a:moveTo>
                  <a:pt x="138410" y="0"/>
                </a:moveTo>
                <a:lnTo>
                  <a:pt x="884634" y="0"/>
                </a:lnTo>
                <a:arcTo hR="138410" wR="138410" stAng="16200000" swAng="5400000"/>
                <a:lnTo>
                  <a:pt x="1023045" y="138410"/>
                </a:lnTo>
                <a:arcTo hR="138410" wR="138410" stAng="0" swAng="5400000"/>
                <a:lnTo>
                  <a:pt x="138410" y="276820"/>
                </a:lnTo>
                <a:arcTo hR="138410" wR="138410" stAng="5400000" swAng="5400000"/>
                <a:lnTo>
                  <a:pt x="0" y="138410"/>
                </a:lnTo>
                <a:arcTo hR="138410" wR="138410" stAng="10800000" swAng="5400000"/>
                <a:close/>
              </a:path>
            </a:pathLst>
          </a:custGeom>
          <a:noFill/>
          <a:ln w="12700">
            <a:solidFill>
              <a:srgbClr val="6E6B75"/>
            </a:solidFill>
            <a:prstDash val="solid"/>
          </a:ln>
        </p:spPr>
        <p:txBody>
          <a:bodyPr wrap="none" lIns="0" tIns="0" rIns="0" bIns="0" rtlCol="0" anchor="ctr">
            <a:normAutofit/>
          </a:bodyPr>
          <a:lstStyle/>
          <a:p>
            <a:pPr algn="ctr" indent="0" marL="0">
              <a:lnSpc>
                <a:spcPts val="1680"/>
              </a:lnSpc>
              <a:buNone/>
            </a:pPr>
            <a:r>
              <a:rPr lang="en-US" sz="1200" b="1" dirty="0">
                <a:solidFill>
                  <a:srgbClr val="B9B7C2"/>
                </a:solidFill>
                <a:latin typeface="Inter" pitchFamily="34" charset="0"/>
                <a:ea typeface="Inter" pitchFamily="34" charset="-122"/>
                <a:cs typeface="Inter" pitchFamily="34" charset="-120"/>
              </a:rPr>
              <a:t>Databricks</a:t>
            </a:r>
            <a:endParaRPr lang="en-US" sz="1200" dirty="0"/>
          </a:p>
        </p:txBody>
      </p:sp>
      <p:sp>
        <p:nvSpPr>
          <p:cNvPr id="30" name="Text 28"/>
          <p:cNvSpPr/>
          <p:nvPr/>
        </p:nvSpPr>
        <p:spPr>
          <a:xfrm>
            <a:off x="7224663" y="5457775"/>
            <a:ext cx="775791" cy="276820"/>
          </a:xfrm>
          <a:custGeom>
            <a:avLst/>
            <a:gdLst/>
            <a:ahLst/>
            <a:cxnLst/>
            <a:rect l="l" t="t" r="r" b="b"/>
            <a:pathLst>
              <a:path w="775791" h="276820">
                <a:moveTo>
                  <a:pt x="138410" y="0"/>
                </a:moveTo>
                <a:lnTo>
                  <a:pt x="637381" y="0"/>
                </a:lnTo>
                <a:arcTo hR="138410" wR="138410" stAng="16200000" swAng="5400000"/>
                <a:lnTo>
                  <a:pt x="775791" y="138410"/>
                </a:lnTo>
                <a:arcTo hR="138410" wR="138410" stAng="0" swAng="5400000"/>
                <a:lnTo>
                  <a:pt x="138410" y="276820"/>
                </a:lnTo>
                <a:arcTo hR="138410" wR="138410" stAng="5400000" swAng="5400000"/>
                <a:lnTo>
                  <a:pt x="0" y="138410"/>
                </a:lnTo>
                <a:arcTo hR="138410" wR="138410" stAng="10800000" swAng="5400000"/>
                <a:close/>
              </a:path>
            </a:pathLst>
          </a:custGeom>
          <a:noFill/>
          <a:ln w="12700">
            <a:solidFill>
              <a:srgbClr val="6E6B75"/>
            </a:solidFill>
            <a:prstDash val="solid"/>
          </a:ln>
        </p:spPr>
        <p:txBody>
          <a:bodyPr wrap="none" lIns="0" tIns="0" rIns="0" bIns="0" rtlCol="0" anchor="ctr">
            <a:normAutofit/>
          </a:bodyPr>
          <a:lstStyle/>
          <a:p>
            <a:pPr algn="ctr" indent="0" marL="0">
              <a:lnSpc>
                <a:spcPts val="1680"/>
              </a:lnSpc>
              <a:buNone/>
            </a:pPr>
            <a:r>
              <a:rPr lang="en-US" sz="1200" b="1" dirty="0">
                <a:solidFill>
                  <a:srgbClr val="B9B7C2"/>
                </a:solidFill>
                <a:latin typeface="Inter" pitchFamily="34" charset="0"/>
                <a:ea typeface="Inter" pitchFamily="34" charset="-122"/>
                <a:cs typeface="Inter" pitchFamily="34" charset="-120"/>
              </a:rPr>
              <a:t>Celonis</a:t>
            </a:r>
            <a:endParaRPr lang="en-US" sz="1200" dirty="0"/>
          </a:p>
        </p:txBody>
      </p:sp>
      <p:sp>
        <p:nvSpPr>
          <p:cNvPr id="31" name="Text 29"/>
          <p:cNvSpPr/>
          <p:nvPr/>
        </p:nvSpPr>
        <p:spPr>
          <a:xfrm>
            <a:off x="8076654" y="5457775"/>
            <a:ext cx="505371" cy="276820"/>
          </a:xfrm>
          <a:custGeom>
            <a:avLst/>
            <a:gdLst/>
            <a:ahLst/>
            <a:cxnLst/>
            <a:rect l="l" t="t" r="r" b="b"/>
            <a:pathLst>
              <a:path w="505371" h="276820">
                <a:moveTo>
                  <a:pt x="138410" y="0"/>
                </a:moveTo>
                <a:lnTo>
                  <a:pt x="366961" y="0"/>
                </a:lnTo>
                <a:arcTo hR="138410" wR="138410" stAng="16200000" swAng="5400000"/>
                <a:lnTo>
                  <a:pt x="505371" y="138410"/>
                </a:lnTo>
                <a:arcTo hR="138410" wR="138410" stAng="0" swAng="5400000"/>
                <a:lnTo>
                  <a:pt x="138410" y="276820"/>
                </a:lnTo>
                <a:arcTo hR="138410" wR="138410" stAng="5400000" swAng="5400000"/>
                <a:lnTo>
                  <a:pt x="0" y="138410"/>
                </a:lnTo>
                <a:arcTo hR="138410" wR="138410" stAng="10800000" swAng="5400000"/>
                <a:close/>
              </a:path>
            </a:pathLst>
          </a:custGeom>
          <a:noFill/>
          <a:ln w="12700">
            <a:solidFill>
              <a:srgbClr val="6E6B75"/>
            </a:solidFill>
            <a:prstDash val="solid"/>
          </a:ln>
        </p:spPr>
        <p:txBody>
          <a:bodyPr wrap="none" lIns="0" tIns="0" rIns="0" bIns="0" rtlCol="0" anchor="ctr">
            <a:normAutofit/>
          </a:bodyPr>
          <a:lstStyle/>
          <a:p>
            <a:pPr algn="ctr" indent="0" marL="0">
              <a:lnSpc>
                <a:spcPts val="1680"/>
              </a:lnSpc>
              <a:buNone/>
            </a:pPr>
            <a:r>
              <a:rPr lang="en-US" sz="1200" b="1" dirty="0">
                <a:solidFill>
                  <a:srgbClr val="B9B7C2"/>
                </a:solidFill>
                <a:latin typeface="Inter" pitchFamily="34" charset="0"/>
                <a:ea typeface="Inter" pitchFamily="34" charset="-122"/>
                <a:cs typeface="Inter" pitchFamily="34" charset="-120"/>
              </a:rPr>
              <a:t>Qlik</a:t>
            </a:r>
            <a:endParaRPr lang="en-US" sz="1200" dirty="0"/>
          </a:p>
        </p:txBody>
      </p:sp>
      <p:sp>
        <p:nvSpPr>
          <p:cNvPr id="32" name="Text 30"/>
          <p:cNvSpPr/>
          <p:nvPr/>
        </p:nvSpPr>
        <p:spPr>
          <a:xfrm>
            <a:off x="8658225" y="5457775"/>
            <a:ext cx="905570" cy="276820"/>
          </a:xfrm>
          <a:custGeom>
            <a:avLst/>
            <a:gdLst/>
            <a:ahLst/>
            <a:cxnLst/>
            <a:rect l="l" t="t" r="r" b="b"/>
            <a:pathLst>
              <a:path w="905570" h="276820">
                <a:moveTo>
                  <a:pt x="138410" y="0"/>
                </a:moveTo>
                <a:lnTo>
                  <a:pt x="767159" y="0"/>
                </a:lnTo>
                <a:arcTo hR="138410" wR="138410" stAng="16200000" swAng="5400000"/>
                <a:lnTo>
                  <a:pt x="905570" y="138410"/>
                </a:lnTo>
                <a:arcTo hR="138410" wR="138410" stAng="0" swAng="5400000"/>
                <a:lnTo>
                  <a:pt x="138410" y="276820"/>
                </a:lnTo>
                <a:arcTo hR="138410" wR="138410" stAng="5400000" swAng="5400000"/>
                <a:lnTo>
                  <a:pt x="0" y="138410"/>
                </a:lnTo>
                <a:arcTo hR="138410" wR="138410" stAng="10800000" swAng="5400000"/>
                <a:close/>
              </a:path>
            </a:pathLst>
          </a:custGeom>
          <a:noFill/>
          <a:ln w="12700">
            <a:solidFill>
              <a:srgbClr val="6E6B75"/>
            </a:solidFill>
            <a:prstDash val="solid"/>
          </a:ln>
        </p:spPr>
        <p:txBody>
          <a:bodyPr wrap="none" lIns="0" tIns="0" rIns="0" bIns="0" rtlCol="0" anchor="ctr">
            <a:normAutofit/>
          </a:bodyPr>
          <a:lstStyle/>
          <a:p>
            <a:pPr algn="ctr" indent="0" marL="0">
              <a:lnSpc>
                <a:spcPts val="1680"/>
              </a:lnSpc>
              <a:buNone/>
            </a:pPr>
            <a:r>
              <a:rPr lang="en-US" sz="1200" b="1" dirty="0">
                <a:solidFill>
                  <a:srgbClr val="B9B7C2"/>
                </a:solidFill>
                <a:latin typeface="Inter" pitchFamily="34" charset="0"/>
                <a:ea typeface="Inter" pitchFamily="34" charset="-122"/>
                <a:cs typeface="Inter" pitchFamily="34" charset="-120"/>
              </a:rPr>
              <a:t>Precisely</a:t>
            </a:r>
            <a:endParaRPr lang="en-US" sz="1200" dirty="0"/>
          </a:p>
        </p:txBody>
      </p:sp>
      <p:sp>
        <p:nvSpPr>
          <p:cNvPr id="33" name="Text 31"/>
          <p:cNvSpPr/>
          <p:nvPr/>
        </p:nvSpPr>
        <p:spPr>
          <a:xfrm>
            <a:off x="812800" y="6238280"/>
            <a:ext cx="10137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3DE"/>
                </a:solidFill>
                <a:latin typeface="Inter" pitchFamily="34" charset="0"/>
                <a:ea typeface="Inter" pitchFamily="34" charset="-122"/>
                <a:cs typeface="Inter" pitchFamily="34" charset="-120"/>
              </a:rPr>
              <a:t>Sources: Databook webinar; customer names as shown on databook.com. Hiring figures are Databook’s example.</a:t>
            </a:r>
            <a:endParaRPr lang="en-US" sz="1200" dirty="0"/>
          </a:p>
        </p:txBody>
      </p:sp>
      <p:sp>
        <p:nvSpPr>
          <p:cNvPr id="34" name="Text 3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5D3DE"/>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theme/theme1.xml><?xml version="1.0" encoding="utf-8"?>
<a:theme xmlns:a="http://schemas.openxmlformats.org/drawingml/2006/main" name="Zoom CRO Pitch (6 slides)">
  <a:themeElements>
    <a:clrScheme name="Zoom CRO Pitch (6 slides)">
      <a:dk1>
        <a:srgbClr val="0B0B12"/>
      </a:dk1>
      <a:lt1>
        <a:srgbClr val="FAFAF8"/>
      </a:lt1>
      <a:dk2>
        <a:srgbClr val="47474C"/>
      </a:dk2>
      <a:lt2>
        <a:srgbClr val="E2E2E1"/>
      </a:lt2>
      <a:accent1>
        <a:srgbClr val="4558D2"/>
      </a:accent1>
      <a:accent2>
        <a:srgbClr val="2E3A9E"/>
      </a:accent2>
      <a:accent3>
        <a:srgbClr val="879BF4"/>
      </a:accent3>
      <a:accent4>
        <a:srgbClr val="BC3A21"/>
      </a:accent4>
      <a:accent5>
        <a:srgbClr val="DE605E"/>
      </a:accent5>
      <a:accent6>
        <a:srgbClr val="804979"/>
      </a:accent6>
      <a:hlink>
        <a:srgbClr val="0563C1"/>
      </a:hlink>
      <a:folHlink>
        <a:srgbClr val="954F72"/>
      </a:folHlink>
    </a:clrScheme>
    <a:fontScheme name="Zoom CRO Pitch (6 slides)">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Zoom CRO Pitch (6 slides)</dc:title>
  <dc:subject/>
  <dc:creator/>
  <cp:lastModifiedBy/>
  <cp:revision>1</cp:revision>
  <dcterms:created xsi:type="dcterms:W3CDTF">2026-10-20T00:00:24Z</dcterms:created>
  <dcterms:modified xsi:type="dcterms:W3CDTF">2026-10-20T00:00:24Z</dcterms:modified>
</cp:coreProperties>
</file>